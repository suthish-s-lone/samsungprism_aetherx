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72" r:id="rId3"/>
    <p:sldId id="273" r:id="rId4"/>
    <p:sldId id="260" r:id="rId5"/>
    <p:sldId id="261" r:id="rId6"/>
    <p:sldId id="262" r:id="rId7"/>
    <p:sldId id="263" r:id="rId8"/>
    <p:sldId id="256" r:id="rId9"/>
    <p:sldId id="274" r:id="rId10"/>
    <p:sldId id="275"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relatable complaint: 'my phone dies before lunch'. Real users never say 'abnormal background wakelock usage' - they describe symptoms in everyday words. Keyword search fails on this, so users hit dead ends and visit service centres unnecessarily. SmartGuide (right) is our answer: it translates the complaint, guides step by step with reasons, takes the user to the exact settings screen, and confirms the fix or escalates.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Existing tools rely on keyword matching. We identified four gaps: (1) they can't handle everyday language, (2) users hit dead ends and revisit service centres, (3) they say what to do but not where to go, and (4) they are opaque and never verify the fix. Each SmartGuide component on the right maps to exactly one gap - walk across the rows left to right.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Suthish-S-lone/SamsungPrism_AetherX"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hyperlink" Target="https://drive.google.com/drive/folders/1WOhcyM7IJ1Eaqlwwx5GtKsKeJh3BnXIL?usp=shar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lang="en-IN"/>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39" y="3310128"/>
            <a:ext cx="7422864" cy="2785872"/>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- 2</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 Aether X</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Vellore Institute of Technology, Vellore</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1 - Deepak PT   deepak.pt2024@vitstudent.ac.in</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2 - Suthish S      suthish.2024@vitstudent.ac.in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3 - Malini S        malini.s2024@vitstudent.ac.in </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4 - Gayathri M  gayathri.m2024@vitstudent.ac.in</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a:t>
            </a:r>
            <a:r>
              <a:rPr lang="en-US" sz="1600" dirty="0" err="1">
                <a:solidFill>
                  <a:srgbClr val="63637E"/>
                </a:solidFill>
                <a:latin typeface="Calibri" pitchFamily="34" charset="0"/>
                <a:ea typeface="Calibri" pitchFamily="34" charset="-122"/>
                <a:cs typeface="Calibri" pitchFamily="34" charset="-120"/>
              </a:rPr>
              <a:t>Github</a:t>
            </a:r>
            <a:r>
              <a:rPr lang="en-US" sz="1600" dirty="0">
                <a:solidFill>
                  <a:srgbClr val="63637E"/>
                </a:solidFill>
                <a:latin typeface="Calibri" pitchFamily="34" charset="0"/>
                <a:ea typeface="Calibri" pitchFamily="34" charset="-122"/>
                <a:cs typeface="Calibri" pitchFamily="34" charset="-120"/>
              </a:rPr>
              <a:t> link - </a:t>
            </a:r>
            <a:r>
              <a:rPr lang="en-US" sz="1600" dirty="0">
                <a:solidFill>
                  <a:srgbClr val="63637E"/>
                </a:solidFill>
                <a:latin typeface="Calibri" pitchFamily="34" charset="0"/>
                <a:ea typeface="Calibri" pitchFamily="34" charset="-122"/>
                <a:cs typeface="Calibri" pitchFamily="34" charset="-120"/>
                <a:hlinkClick r:id="rId3"/>
              </a:rPr>
              <a:t>https://github.com/Suthish-S-lone/SamsungPrism_AetherX</a:t>
            </a:r>
            <a:endParaRPr lang="en-US" sz="16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4"/>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457200" y="320040"/>
            <a:ext cx="11155680" cy="777240"/>
          </a:xfrm>
        </p:spPr>
        <p:txBody>
          <a:bodyPr>
            <a:normAutofit/>
          </a:bodyPr>
          <a:lstStyle/>
          <a:p>
            <a:r>
              <a:rPr lang="en-IN" sz="3000" b="1" dirty="0">
                <a:solidFill>
                  <a:srgbClr val="704EA6"/>
                </a:solidFill>
                <a:latin typeface="+mn-lt"/>
                <a:cs typeface="Arial" pitchFamily="34" charset="-120"/>
              </a:rPr>
              <a:t>Theme 2: The Smart Guided Troubleshooting Engine</a:t>
            </a:r>
          </a:p>
        </p:txBody>
      </p:sp>
      <p:sp>
        <p:nvSpPr>
          <p:cNvPr id="3" name="TextBox 2"/>
          <p:cNvSpPr txBox="1"/>
          <p:nvPr/>
        </p:nvSpPr>
        <p:spPr>
          <a:xfrm>
            <a:off x="548640" y="1325880"/>
            <a:ext cx="5120640" cy="274320"/>
          </a:xfrm>
          <a:prstGeom prst="rect">
            <a:avLst/>
          </a:prstGeom>
          <a:noFill/>
        </p:spPr>
        <p:txBody>
          <a:bodyPr wrap="square" lIns="0" tIns="0" rIns="0" bIns="0" anchor="t">
            <a:spAutoFit/>
          </a:bodyPr>
          <a:lstStyle/>
          <a:p>
            <a:pPr algn="l"/>
            <a:r>
              <a:rPr sz="1200" b="1" i="0">
                <a:solidFill>
                  <a:srgbClr val="704EA6"/>
                </a:solidFill>
                <a:latin typeface="Calibri"/>
              </a:rPr>
              <a:t>THE ISSUE</a:t>
            </a:r>
          </a:p>
        </p:txBody>
      </p:sp>
      <p:sp>
        <p:nvSpPr>
          <p:cNvPr id="4" name="Rounded Rectangle 3"/>
          <p:cNvSpPr/>
          <p:nvPr/>
        </p:nvSpPr>
        <p:spPr>
          <a:xfrm>
            <a:off x="548640" y="1645920"/>
            <a:ext cx="5212080" cy="1600200"/>
          </a:xfrm>
          <a:prstGeom prst="roundRect">
            <a:avLst>
              <a:gd name="adj" fmla="val 8000"/>
            </a:avLst>
          </a:prstGeom>
          <a:solidFill>
            <a:srgbClr val="F3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783080"/>
            <a:ext cx="4572000" cy="822960"/>
          </a:xfrm>
          <a:prstGeom prst="rect">
            <a:avLst/>
          </a:prstGeom>
          <a:noFill/>
        </p:spPr>
        <p:txBody>
          <a:bodyPr wrap="square" lIns="0" tIns="0" rIns="0" bIns="0" anchor="ctr">
            <a:spAutoFit/>
          </a:bodyPr>
          <a:lstStyle/>
          <a:p>
            <a:pPr algn="l"/>
            <a:r>
              <a:rPr sz="2800" b="1" i="1">
                <a:solidFill>
                  <a:srgbClr val="704EA6"/>
                </a:solidFill>
                <a:latin typeface="Calibri"/>
              </a:rPr>
              <a:t>“My phone dies before lunch.”</a:t>
            </a:r>
          </a:p>
        </p:txBody>
      </p:sp>
      <p:sp>
        <p:nvSpPr>
          <p:cNvPr id="6" name="TextBox 5"/>
          <p:cNvSpPr txBox="1"/>
          <p:nvPr/>
        </p:nvSpPr>
        <p:spPr>
          <a:xfrm>
            <a:off x="868680" y="2606040"/>
            <a:ext cx="4572000" cy="548640"/>
          </a:xfrm>
          <a:prstGeom prst="rect">
            <a:avLst/>
          </a:prstGeom>
          <a:noFill/>
        </p:spPr>
        <p:txBody>
          <a:bodyPr wrap="square" lIns="0" tIns="0" rIns="0" bIns="0" anchor="t">
            <a:spAutoFit/>
          </a:bodyPr>
          <a:lstStyle/>
          <a:p>
            <a:pPr algn="l"/>
            <a:r>
              <a:rPr sz="1400" b="0" i="0">
                <a:solidFill>
                  <a:srgbClr val="63637E"/>
                </a:solidFill>
                <a:latin typeface="Calibri"/>
              </a:rPr>
              <a:t>Users describe device problems in layman’s terms, not technical language.</a:t>
            </a:r>
          </a:p>
        </p:txBody>
      </p:sp>
      <p:sp>
        <p:nvSpPr>
          <p:cNvPr id="7" name="TextBox 6"/>
          <p:cNvSpPr txBox="1"/>
          <p:nvPr/>
        </p:nvSpPr>
        <p:spPr>
          <a:xfrm>
            <a:off x="548640" y="3474720"/>
            <a:ext cx="5120640" cy="274320"/>
          </a:xfrm>
          <a:prstGeom prst="rect">
            <a:avLst/>
          </a:prstGeom>
          <a:noFill/>
        </p:spPr>
        <p:txBody>
          <a:bodyPr wrap="square" lIns="0" tIns="0" rIns="0" bIns="0" anchor="t">
            <a:spAutoFit/>
          </a:bodyPr>
          <a:lstStyle/>
          <a:p>
            <a:pPr algn="l"/>
            <a:r>
              <a:rPr sz="1200" b="1" i="0">
                <a:solidFill>
                  <a:srgbClr val="704EA6"/>
                </a:solidFill>
                <a:latin typeface="Calibri"/>
              </a:rPr>
              <a:t>COMMON PROBLEMS</a:t>
            </a:r>
          </a:p>
        </p:txBody>
      </p:sp>
      <p:sp>
        <p:nvSpPr>
          <p:cNvPr id="8" name="Rounded Rectangle 7"/>
          <p:cNvSpPr/>
          <p:nvPr/>
        </p:nvSpPr>
        <p:spPr>
          <a:xfrm>
            <a:off x="548640" y="3794760"/>
            <a:ext cx="2560320" cy="457200"/>
          </a:xfrm>
          <a:prstGeom prst="roundRect">
            <a:avLst>
              <a:gd name="adj" fmla="val 50000"/>
            </a:avLst>
          </a:prstGeom>
          <a:solidFill>
            <a:srgbClr val="FFFFFF"/>
          </a:solidFill>
          <a:ln w="12700">
            <a:solidFill>
              <a:srgbClr val="704E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8640" y="3794760"/>
            <a:ext cx="2560320" cy="457200"/>
          </a:xfrm>
          <a:prstGeom prst="rect">
            <a:avLst/>
          </a:prstGeom>
          <a:noFill/>
        </p:spPr>
        <p:txBody>
          <a:bodyPr wrap="square" lIns="0" tIns="0" rIns="0" bIns="0" anchor="ctr">
            <a:spAutoFit/>
          </a:bodyPr>
          <a:lstStyle/>
          <a:p>
            <a:pPr algn="ctr"/>
            <a:r>
              <a:rPr sz="1400" b="1" i="0">
                <a:solidFill>
                  <a:srgbClr val="704EA6"/>
                </a:solidFill>
                <a:latin typeface="Calibri"/>
              </a:rPr>
              <a:t>Battery drain</a:t>
            </a:r>
          </a:p>
        </p:txBody>
      </p:sp>
      <p:sp>
        <p:nvSpPr>
          <p:cNvPr id="10" name="Rounded Rectangle 9"/>
          <p:cNvSpPr/>
          <p:nvPr/>
        </p:nvSpPr>
        <p:spPr>
          <a:xfrm>
            <a:off x="3200400" y="3794760"/>
            <a:ext cx="2560320" cy="457200"/>
          </a:xfrm>
          <a:prstGeom prst="roundRect">
            <a:avLst>
              <a:gd name="adj" fmla="val 50000"/>
            </a:avLst>
          </a:prstGeom>
          <a:solidFill>
            <a:srgbClr val="FFFFFF"/>
          </a:solidFill>
          <a:ln w="12700">
            <a:solidFill>
              <a:srgbClr val="704E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0" y="3794760"/>
            <a:ext cx="2560320" cy="457200"/>
          </a:xfrm>
          <a:prstGeom prst="rect">
            <a:avLst/>
          </a:prstGeom>
          <a:noFill/>
        </p:spPr>
        <p:txBody>
          <a:bodyPr wrap="square" lIns="0" tIns="0" rIns="0" bIns="0" anchor="ctr">
            <a:spAutoFit/>
          </a:bodyPr>
          <a:lstStyle/>
          <a:p>
            <a:pPr algn="ctr"/>
            <a:r>
              <a:rPr sz="1400" b="1" i="0">
                <a:solidFill>
                  <a:srgbClr val="704EA6"/>
                </a:solidFill>
                <a:latin typeface="Calibri"/>
              </a:rPr>
              <a:t>Erratic brightness</a:t>
            </a:r>
          </a:p>
        </p:txBody>
      </p:sp>
      <p:sp>
        <p:nvSpPr>
          <p:cNvPr id="12" name="Rounded Rectangle 11"/>
          <p:cNvSpPr/>
          <p:nvPr/>
        </p:nvSpPr>
        <p:spPr>
          <a:xfrm>
            <a:off x="548640" y="4361688"/>
            <a:ext cx="2560320" cy="457200"/>
          </a:xfrm>
          <a:prstGeom prst="roundRect">
            <a:avLst>
              <a:gd name="adj" fmla="val 50000"/>
            </a:avLst>
          </a:prstGeom>
          <a:solidFill>
            <a:srgbClr val="FFFFFF"/>
          </a:solidFill>
          <a:ln w="12700">
            <a:solidFill>
              <a:srgbClr val="704E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8640" y="4361688"/>
            <a:ext cx="2560320" cy="457200"/>
          </a:xfrm>
          <a:prstGeom prst="rect">
            <a:avLst/>
          </a:prstGeom>
          <a:noFill/>
        </p:spPr>
        <p:txBody>
          <a:bodyPr wrap="square" lIns="0" tIns="0" rIns="0" bIns="0" anchor="ctr">
            <a:spAutoFit/>
          </a:bodyPr>
          <a:lstStyle/>
          <a:p>
            <a:pPr algn="ctr"/>
            <a:r>
              <a:rPr sz="1400" b="1" i="0">
                <a:solidFill>
                  <a:srgbClr val="704EA6"/>
                </a:solidFill>
                <a:latin typeface="Calibri"/>
              </a:rPr>
              <a:t>Camera freezing</a:t>
            </a:r>
          </a:p>
        </p:txBody>
      </p:sp>
      <p:sp>
        <p:nvSpPr>
          <p:cNvPr id="14" name="Rounded Rectangle 13"/>
          <p:cNvSpPr/>
          <p:nvPr/>
        </p:nvSpPr>
        <p:spPr>
          <a:xfrm>
            <a:off x="3200400" y="4361688"/>
            <a:ext cx="2560320" cy="457200"/>
          </a:xfrm>
          <a:prstGeom prst="roundRect">
            <a:avLst>
              <a:gd name="adj" fmla="val 50000"/>
            </a:avLst>
          </a:prstGeom>
          <a:solidFill>
            <a:srgbClr val="FFFFFF"/>
          </a:solidFill>
          <a:ln w="12700">
            <a:solidFill>
              <a:srgbClr val="704E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00400" y="4361688"/>
            <a:ext cx="2560320" cy="457200"/>
          </a:xfrm>
          <a:prstGeom prst="rect">
            <a:avLst/>
          </a:prstGeom>
          <a:noFill/>
        </p:spPr>
        <p:txBody>
          <a:bodyPr wrap="square" lIns="0" tIns="0" rIns="0" bIns="0" anchor="ctr">
            <a:spAutoFit/>
          </a:bodyPr>
          <a:lstStyle/>
          <a:p>
            <a:pPr algn="ctr"/>
            <a:r>
              <a:rPr sz="1400" b="1" i="0">
                <a:solidFill>
                  <a:srgbClr val="704EA6"/>
                </a:solidFill>
                <a:latin typeface="Calibri"/>
              </a:rPr>
              <a:t>Sluggish performance</a:t>
            </a:r>
          </a:p>
        </p:txBody>
      </p:sp>
      <p:sp>
        <p:nvSpPr>
          <p:cNvPr id="16" name="Rounded Rectangle 15"/>
          <p:cNvSpPr/>
          <p:nvPr/>
        </p:nvSpPr>
        <p:spPr>
          <a:xfrm>
            <a:off x="548640" y="5074920"/>
            <a:ext cx="5212080" cy="1188720"/>
          </a:xfrm>
          <a:prstGeom prst="roundRect">
            <a:avLst>
              <a:gd name="adj" fmla="val 8000"/>
            </a:avLst>
          </a:prstGeom>
          <a:solidFill>
            <a:srgbClr val="F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5120640"/>
            <a:ext cx="4754880" cy="1097280"/>
          </a:xfrm>
          <a:prstGeom prst="rect">
            <a:avLst/>
          </a:prstGeom>
          <a:noFill/>
        </p:spPr>
        <p:txBody>
          <a:bodyPr wrap="square" lIns="0" tIns="0" rIns="0" bIns="0" anchor="ctr">
            <a:spAutoFit/>
          </a:bodyPr>
          <a:lstStyle/>
          <a:p>
            <a:pPr algn="l"/>
            <a:r>
              <a:rPr sz="1400" b="1" i="0">
                <a:solidFill>
                  <a:srgbClr val="B43A2E"/>
                </a:solidFill>
                <a:latin typeface="Calibri"/>
              </a:rPr>
              <a:t>The gap: </a:t>
            </a:r>
            <a:r>
              <a:rPr sz="1400" b="0" i="0">
                <a:solidFill>
                  <a:srgbClr val="14142B"/>
                </a:solidFill>
                <a:latin typeface="Calibri"/>
              </a:rPr>
              <a:t>keyword systems need precise technical language or fail — causing frustration and unproductive service-centre visits.</a:t>
            </a:r>
          </a:p>
        </p:txBody>
      </p:sp>
      <p:sp>
        <p:nvSpPr>
          <p:cNvPr id="18" name="Right Arrow 17"/>
          <p:cNvSpPr/>
          <p:nvPr/>
        </p:nvSpPr>
        <p:spPr>
          <a:xfrm>
            <a:off x="5870448" y="3520440"/>
            <a:ext cx="457200" cy="548640"/>
          </a:xfrm>
          <a:prstGeom prst="rightArrow">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446520" y="1325880"/>
            <a:ext cx="5212080" cy="4937760"/>
          </a:xfrm>
          <a:prstGeom prst="roundRect">
            <a:avLst>
              <a:gd name="adj" fmla="val 5000"/>
            </a:avLst>
          </a:prstGeom>
          <a:solidFill>
            <a:srgbClr val="141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66560" y="1508760"/>
            <a:ext cx="4572000" cy="274320"/>
          </a:xfrm>
          <a:prstGeom prst="rect">
            <a:avLst/>
          </a:prstGeom>
          <a:noFill/>
        </p:spPr>
        <p:txBody>
          <a:bodyPr wrap="square" lIns="0" tIns="0" rIns="0" bIns="0" anchor="t">
            <a:spAutoFit/>
          </a:bodyPr>
          <a:lstStyle/>
          <a:p>
            <a:pPr algn="l"/>
            <a:r>
              <a:rPr sz="1200" b="1" i="0">
                <a:solidFill>
                  <a:srgbClr val="C9BCE8"/>
                </a:solidFill>
                <a:latin typeface="Calibri"/>
              </a:rPr>
              <a:t>OUR ANSWER</a:t>
            </a:r>
          </a:p>
        </p:txBody>
      </p:sp>
      <p:sp>
        <p:nvSpPr>
          <p:cNvPr id="21" name="TextBox 20"/>
          <p:cNvSpPr txBox="1"/>
          <p:nvPr/>
        </p:nvSpPr>
        <p:spPr>
          <a:xfrm>
            <a:off x="6766560" y="1783080"/>
            <a:ext cx="4572000" cy="640080"/>
          </a:xfrm>
          <a:prstGeom prst="rect">
            <a:avLst/>
          </a:prstGeom>
          <a:noFill/>
        </p:spPr>
        <p:txBody>
          <a:bodyPr wrap="square" lIns="0" tIns="0" rIns="0" bIns="0" anchor="t">
            <a:spAutoFit/>
          </a:bodyPr>
          <a:lstStyle/>
          <a:p>
            <a:pPr algn="l"/>
            <a:r>
              <a:rPr sz="3600" b="1" i="0">
                <a:solidFill>
                  <a:srgbClr val="FFFFFF"/>
                </a:solidFill>
                <a:latin typeface="Calibri"/>
              </a:rPr>
              <a:t>SmartGuide</a:t>
            </a:r>
          </a:p>
        </p:txBody>
      </p:sp>
      <p:sp>
        <p:nvSpPr>
          <p:cNvPr id="22" name="TextBox 21"/>
          <p:cNvSpPr txBox="1"/>
          <p:nvPr/>
        </p:nvSpPr>
        <p:spPr>
          <a:xfrm>
            <a:off x="6766560" y="2450592"/>
            <a:ext cx="4572000" cy="548640"/>
          </a:xfrm>
          <a:prstGeom prst="rect">
            <a:avLst/>
          </a:prstGeom>
          <a:noFill/>
        </p:spPr>
        <p:txBody>
          <a:bodyPr wrap="square" lIns="0" tIns="0" rIns="0" bIns="0" anchor="t">
            <a:spAutoFit/>
          </a:bodyPr>
          <a:lstStyle/>
          <a:p>
            <a:pPr algn="l"/>
            <a:r>
              <a:rPr sz="1400" b="0" i="0">
                <a:solidFill>
                  <a:srgbClr val="C9BCE8"/>
                </a:solidFill>
                <a:latin typeface="Calibri"/>
              </a:rPr>
              <a:t>A grounded natural-language troubleshooting engine</a:t>
            </a:r>
          </a:p>
        </p:txBody>
      </p:sp>
      <p:sp>
        <p:nvSpPr>
          <p:cNvPr id="23" name="Oval 22"/>
          <p:cNvSpPr/>
          <p:nvPr/>
        </p:nvSpPr>
        <p:spPr>
          <a:xfrm>
            <a:off x="6766560" y="3200400"/>
            <a:ext cx="502920" cy="5029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1</a:t>
            </a:r>
          </a:p>
        </p:txBody>
      </p:sp>
      <p:sp>
        <p:nvSpPr>
          <p:cNvPr id="24" name="TextBox 23"/>
          <p:cNvSpPr txBox="1"/>
          <p:nvPr/>
        </p:nvSpPr>
        <p:spPr>
          <a:xfrm>
            <a:off x="7452360" y="3154680"/>
            <a:ext cx="4023360" cy="594360"/>
          </a:xfrm>
          <a:prstGeom prst="rect">
            <a:avLst/>
          </a:prstGeom>
          <a:noFill/>
        </p:spPr>
        <p:txBody>
          <a:bodyPr wrap="square" lIns="0" tIns="0" rIns="0" bIns="0" anchor="ctr">
            <a:spAutoFit/>
          </a:bodyPr>
          <a:lstStyle/>
          <a:p>
            <a:pPr algn="l"/>
            <a:r>
              <a:rPr sz="1500" b="1" i="0">
                <a:solidFill>
                  <a:srgbClr val="FFFFFF"/>
                </a:solidFill>
                <a:latin typeface="Calibri"/>
              </a:rPr>
              <a:t>Translates </a:t>
            </a:r>
            <a:r>
              <a:rPr sz="1500" b="0" i="0">
                <a:solidFill>
                  <a:srgbClr val="C9BCE8"/>
                </a:solidFill>
                <a:latin typeface="Calibri"/>
              </a:rPr>
              <a:t>user complaints into technical symptoms</a:t>
            </a:r>
          </a:p>
        </p:txBody>
      </p:sp>
      <p:sp>
        <p:nvSpPr>
          <p:cNvPr id="25" name="Oval 24"/>
          <p:cNvSpPr/>
          <p:nvPr/>
        </p:nvSpPr>
        <p:spPr>
          <a:xfrm>
            <a:off x="6766560" y="3959352"/>
            <a:ext cx="502920" cy="5029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2</a:t>
            </a:r>
          </a:p>
        </p:txBody>
      </p:sp>
      <p:sp>
        <p:nvSpPr>
          <p:cNvPr id="26" name="TextBox 25"/>
          <p:cNvSpPr txBox="1"/>
          <p:nvPr/>
        </p:nvSpPr>
        <p:spPr>
          <a:xfrm>
            <a:off x="7452360" y="3913632"/>
            <a:ext cx="4023360" cy="594360"/>
          </a:xfrm>
          <a:prstGeom prst="rect">
            <a:avLst/>
          </a:prstGeom>
          <a:noFill/>
        </p:spPr>
        <p:txBody>
          <a:bodyPr wrap="square" lIns="0" tIns="0" rIns="0" bIns="0" anchor="ctr">
            <a:spAutoFit/>
          </a:bodyPr>
          <a:lstStyle/>
          <a:p>
            <a:pPr algn="l"/>
            <a:r>
              <a:rPr sz="1500" b="1" i="0">
                <a:solidFill>
                  <a:srgbClr val="FFFFFF"/>
                </a:solidFill>
                <a:latin typeface="Calibri"/>
              </a:rPr>
              <a:t>Guides </a:t>
            </a:r>
            <a:r>
              <a:rPr sz="1500" b="0" i="0">
                <a:solidFill>
                  <a:srgbClr val="C9BCE8"/>
                </a:solidFill>
                <a:latin typeface="Calibri"/>
              </a:rPr>
              <a:t>through step-by-step actions with rationales</a:t>
            </a:r>
          </a:p>
        </p:txBody>
      </p:sp>
      <p:sp>
        <p:nvSpPr>
          <p:cNvPr id="27" name="Oval 26"/>
          <p:cNvSpPr/>
          <p:nvPr/>
        </p:nvSpPr>
        <p:spPr>
          <a:xfrm>
            <a:off x="6766560" y="4718304"/>
            <a:ext cx="502920" cy="5029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3</a:t>
            </a:r>
          </a:p>
        </p:txBody>
      </p:sp>
      <p:sp>
        <p:nvSpPr>
          <p:cNvPr id="28" name="TextBox 27"/>
          <p:cNvSpPr txBox="1"/>
          <p:nvPr/>
        </p:nvSpPr>
        <p:spPr>
          <a:xfrm>
            <a:off x="7452360" y="4672584"/>
            <a:ext cx="4023360" cy="594360"/>
          </a:xfrm>
          <a:prstGeom prst="rect">
            <a:avLst/>
          </a:prstGeom>
          <a:noFill/>
        </p:spPr>
        <p:txBody>
          <a:bodyPr wrap="square" lIns="0" tIns="0" rIns="0" bIns="0" anchor="ctr">
            <a:spAutoFit/>
          </a:bodyPr>
          <a:lstStyle/>
          <a:p>
            <a:pPr algn="l"/>
            <a:r>
              <a:rPr sz="1500" b="1" i="0">
                <a:solidFill>
                  <a:srgbClr val="FFFFFF"/>
                </a:solidFill>
                <a:latin typeface="Calibri"/>
              </a:rPr>
              <a:t>Leads </a:t>
            </a:r>
            <a:r>
              <a:rPr sz="1500" b="0" i="0">
                <a:solidFill>
                  <a:srgbClr val="C9BCE8"/>
                </a:solidFill>
                <a:latin typeface="Calibri"/>
              </a:rPr>
              <a:t>users to the exact settings screen via prototype:// deep links</a:t>
            </a:r>
          </a:p>
        </p:txBody>
      </p:sp>
      <p:sp>
        <p:nvSpPr>
          <p:cNvPr id="29" name="Oval 28"/>
          <p:cNvSpPr/>
          <p:nvPr/>
        </p:nvSpPr>
        <p:spPr>
          <a:xfrm>
            <a:off x="6766560" y="5477256"/>
            <a:ext cx="502920" cy="50292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alibri"/>
              </a:rPr>
              <a:t>4</a:t>
            </a:r>
          </a:p>
        </p:txBody>
      </p:sp>
      <p:sp>
        <p:nvSpPr>
          <p:cNvPr id="30" name="TextBox 29"/>
          <p:cNvSpPr txBox="1"/>
          <p:nvPr/>
        </p:nvSpPr>
        <p:spPr>
          <a:xfrm>
            <a:off x="7452360" y="5431536"/>
            <a:ext cx="4023360" cy="594360"/>
          </a:xfrm>
          <a:prstGeom prst="rect">
            <a:avLst/>
          </a:prstGeom>
          <a:noFill/>
        </p:spPr>
        <p:txBody>
          <a:bodyPr wrap="square" lIns="0" tIns="0" rIns="0" bIns="0" anchor="ctr">
            <a:spAutoFit/>
          </a:bodyPr>
          <a:lstStyle/>
          <a:p>
            <a:pPr algn="l"/>
            <a:r>
              <a:rPr sz="1500" b="1" i="0">
                <a:solidFill>
                  <a:srgbClr val="FFFFFF"/>
                </a:solidFill>
                <a:latin typeface="Calibri"/>
              </a:rPr>
              <a:t>Confirms </a:t>
            </a:r>
            <a:r>
              <a:rPr sz="1500" b="0" i="0">
                <a:solidFill>
                  <a:srgbClr val="C9BCE8"/>
                </a:solidFill>
                <a:latin typeface="Calibri"/>
              </a:rPr>
              <a:t>the fix, or simulates escalation</a:t>
            </a:r>
          </a:p>
        </p:txBody>
      </p:sp>
    </p:spTree>
    <p:extLst>
      <p:ext uri="{BB962C8B-B14F-4D97-AF65-F5344CB8AC3E}">
        <p14:creationId xmlns:p14="http://schemas.microsoft.com/office/powerpoint/2010/main" val="569132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457200" y="320040"/>
            <a:ext cx="11155680" cy="777240"/>
          </a:xfrm>
        </p:spPr>
        <p:txBody>
          <a:bodyPr>
            <a:normAutofit/>
          </a:bodyPr>
          <a:lstStyle/>
          <a:p>
            <a:r>
              <a:rPr lang="en-IN" sz="3000" b="1" dirty="0">
                <a:solidFill>
                  <a:srgbClr val="704EA6"/>
                </a:solidFill>
                <a:latin typeface="+mn-lt"/>
                <a:cs typeface="Arial" pitchFamily="34" charset="-120"/>
              </a:rPr>
              <a:t>Existing Solutions &amp; Gaps</a:t>
            </a:r>
          </a:p>
        </p:txBody>
      </p:sp>
      <p:sp>
        <p:nvSpPr>
          <p:cNvPr id="3" name="Rounded Rectangle 2"/>
          <p:cNvSpPr/>
          <p:nvPr/>
        </p:nvSpPr>
        <p:spPr>
          <a:xfrm>
            <a:off x="548640" y="1280160"/>
            <a:ext cx="4846320" cy="502920"/>
          </a:xfrm>
          <a:prstGeom prst="roundRect">
            <a:avLst>
              <a:gd name="adj" fmla="val 30000"/>
            </a:avLst>
          </a:prstGeom>
          <a:solidFill>
            <a:srgbClr val="E9E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280160"/>
            <a:ext cx="4846320" cy="502920"/>
          </a:xfrm>
          <a:prstGeom prst="rect">
            <a:avLst/>
          </a:prstGeom>
          <a:noFill/>
        </p:spPr>
        <p:txBody>
          <a:bodyPr wrap="square" lIns="0" tIns="0" rIns="0" bIns="0" anchor="ctr">
            <a:spAutoFit/>
          </a:bodyPr>
          <a:lstStyle/>
          <a:p>
            <a:pPr algn="ctr"/>
            <a:r>
              <a:rPr sz="1400" b="1" i="0">
                <a:solidFill>
                  <a:srgbClr val="63637E"/>
                </a:solidFill>
                <a:latin typeface="Calibri"/>
              </a:rPr>
              <a:t>Existing approach: keyword-based troubleshooting</a:t>
            </a:r>
          </a:p>
        </p:txBody>
      </p:sp>
      <p:sp>
        <p:nvSpPr>
          <p:cNvPr id="5" name="Rounded Rectangle 4"/>
          <p:cNvSpPr/>
          <p:nvPr/>
        </p:nvSpPr>
        <p:spPr>
          <a:xfrm>
            <a:off x="6172200" y="1280160"/>
            <a:ext cx="5486400" cy="502920"/>
          </a:xfrm>
          <a:prstGeom prst="roundRect">
            <a:avLst>
              <a:gd name="adj" fmla="val 30000"/>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172200" y="1280160"/>
            <a:ext cx="5486400" cy="502920"/>
          </a:xfrm>
          <a:prstGeom prst="rect">
            <a:avLst/>
          </a:prstGeom>
          <a:noFill/>
        </p:spPr>
        <p:txBody>
          <a:bodyPr wrap="square" lIns="0" tIns="0" rIns="0" bIns="0" anchor="ctr">
            <a:spAutoFit/>
          </a:bodyPr>
          <a:lstStyle/>
          <a:p>
            <a:pPr algn="ctr"/>
            <a:r>
              <a:rPr sz="1400" b="1" i="0">
                <a:solidFill>
                  <a:srgbClr val="FFFFFF"/>
                </a:solidFill>
                <a:latin typeface="Calibri"/>
              </a:rPr>
              <a:t>How SmartGuide closes the gaps</a:t>
            </a:r>
          </a:p>
        </p:txBody>
      </p:sp>
      <p:sp>
        <p:nvSpPr>
          <p:cNvPr id="7" name="Rounded Rectangle 6"/>
          <p:cNvSpPr/>
          <p:nvPr/>
        </p:nvSpPr>
        <p:spPr>
          <a:xfrm>
            <a:off x="548640" y="2011680"/>
            <a:ext cx="4846320" cy="1005840"/>
          </a:xfrm>
          <a:prstGeom prst="roundRect">
            <a:avLst>
              <a:gd name="adj" fmla="val 8000"/>
            </a:avLst>
          </a:prstGeom>
          <a:solidFill>
            <a:srgbClr val="F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2011680"/>
            <a:ext cx="914400" cy="1005840"/>
          </a:xfrm>
          <a:prstGeom prst="rect">
            <a:avLst/>
          </a:prstGeom>
          <a:noFill/>
        </p:spPr>
        <p:txBody>
          <a:bodyPr wrap="square" lIns="0" tIns="0" rIns="0" bIns="0" anchor="ctr">
            <a:spAutoFit/>
          </a:bodyPr>
          <a:lstStyle/>
          <a:p>
            <a:pPr algn="l"/>
            <a:r>
              <a:rPr sz="1500" b="1" i="0">
                <a:solidFill>
                  <a:srgbClr val="B43A2E"/>
                </a:solidFill>
                <a:latin typeface="Calibri"/>
              </a:rPr>
              <a:t>Gap 1</a:t>
            </a:r>
          </a:p>
        </p:txBody>
      </p:sp>
      <p:sp>
        <p:nvSpPr>
          <p:cNvPr id="9" name="TextBox 8"/>
          <p:cNvSpPr txBox="1"/>
          <p:nvPr/>
        </p:nvSpPr>
        <p:spPr>
          <a:xfrm>
            <a:off x="1508760" y="2011680"/>
            <a:ext cx="3749039" cy="1005840"/>
          </a:xfrm>
          <a:prstGeom prst="rect">
            <a:avLst/>
          </a:prstGeom>
          <a:noFill/>
        </p:spPr>
        <p:txBody>
          <a:bodyPr wrap="square" lIns="0" tIns="0" rIns="0" bIns="0" anchor="ctr">
            <a:spAutoFit/>
          </a:bodyPr>
          <a:lstStyle/>
          <a:p>
            <a:pPr algn="l"/>
            <a:r>
              <a:rPr sz="1300" b="0" i="0">
                <a:solidFill>
                  <a:srgbClr val="14142B"/>
                </a:solidFill>
                <a:latin typeface="Calibri"/>
              </a:rPr>
              <a:t>Can’t understand slang or non-specific requests; precise technical terms are needed</a:t>
            </a:r>
          </a:p>
        </p:txBody>
      </p:sp>
      <p:sp>
        <p:nvSpPr>
          <p:cNvPr id="10" name="Right Arrow 9"/>
          <p:cNvSpPr/>
          <p:nvPr/>
        </p:nvSpPr>
        <p:spPr>
          <a:xfrm>
            <a:off x="5559552" y="2240280"/>
            <a:ext cx="457200" cy="548640"/>
          </a:xfrm>
          <a:prstGeom prst="rightArrow">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172200" y="2011680"/>
            <a:ext cx="5486400" cy="1005840"/>
          </a:xfrm>
          <a:prstGeom prst="roundRect">
            <a:avLst>
              <a:gd name="adj" fmla="val 8000"/>
            </a:avLst>
          </a:prstGeom>
          <a:solidFill>
            <a:srgbClr val="F3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55080" y="2286000"/>
            <a:ext cx="457200" cy="45720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t>
            </a:r>
          </a:p>
        </p:txBody>
      </p:sp>
      <p:sp>
        <p:nvSpPr>
          <p:cNvPr id="13" name="TextBox 12"/>
          <p:cNvSpPr txBox="1"/>
          <p:nvPr/>
        </p:nvSpPr>
        <p:spPr>
          <a:xfrm>
            <a:off x="6995160" y="2011680"/>
            <a:ext cx="4526280" cy="1005840"/>
          </a:xfrm>
          <a:prstGeom prst="rect">
            <a:avLst/>
          </a:prstGeom>
          <a:noFill/>
        </p:spPr>
        <p:txBody>
          <a:bodyPr wrap="square" lIns="0" tIns="0" rIns="0" bIns="0" anchor="ctr">
            <a:spAutoFit/>
          </a:bodyPr>
          <a:lstStyle/>
          <a:p>
            <a:pPr algn="l"/>
            <a:r>
              <a:rPr sz="1400" b="1" i="0">
                <a:solidFill>
                  <a:srgbClr val="704EA6"/>
                </a:solidFill>
                <a:latin typeface="Calibri"/>
              </a:rPr>
              <a:t>Query canonicalization </a:t>
            </a:r>
            <a:r>
              <a:rPr sz="1400" b="0" i="0">
                <a:solidFill>
                  <a:srgbClr val="14142B"/>
                </a:solidFill>
                <a:latin typeface="Calibri"/>
              </a:rPr>
              <a:t>turns casual speech into technical symptoms</a:t>
            </a:r>
          </a:p>
        </p:txBody>
      </p:sp>
      <p:sp>
        <p:nvSpPr>
          <p:cNvPr id="14" name="Rounded Rectangle 13"/>
          <p:cNvSpPr/>
          <p:nvPr/>
        </p:nvSpPr>
        <p:spPr>
          <a:xfrm>
            <a:off x="548640" y="3136392"/>
            <a:ext cx="4846320" cy="1005840"/>
          </a:xfrm>
          <a:prstGeom prst="roundRect">
            <a:avLst>
              <a:gd name="adj" fmla="val 8000"/>
            </a:avLst>
          </a:prstGeom>
          <a:solidFill>
            <a:srgbClr val="F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136392"/>
            <a:ext cx="914400" cy="1005840"/>
          </a:xfrm>
          <a:prstGeom prst="rect">
            <a:avLst/>
          </a:prstGeom>
          <a:noFill/>
        </p:spPr>
        <p:txBody>
          <a:bodyPr wrap="square" lIns="0" tIns="0" rIns="0" bIns="0" anchor="ctr">
            <a:spAutoFit/>
          </a:bodyPr>
          <a:lstStyle/>
          <a:p>
            <a:pPr algn="l"/>
            <a:r>
              <a:rPr sz="1500" b="1" i="0">
                <a:solidFill>
                  <a:srgbClr val="B43A2E"/>
                </a:solidFill>
                <a:latin typeface="Calibri"/>
              </a:rPr>
              <a:t>Gap 2</a:t>
            </a:r>
          </a:p>
        </p:txBody>
      </p:sp>
      <p:sp>
        <p:nvSpPr>
          <p:cNvPr id="16" name="TextBox 15"/>
          <p:cNvSpPr txBox="1"/>
          <p:nvPr/>
        </p:nvSpPr>
        <p:spPr>
          <a:xfrm>
            <a:off x="1508760" y="3136392"/>
            <a:ext cx="3749039" cy="1005840"/>
          </a:xfrm>
          <a:prstGeom prst="rect">
            <a:avLst/>
          </a:prstGeom>
          <a:noFill/>
        </p:spPr>
        <p:txBody>
          <a:bodyPr wrap="square" lIns="0" tIns="0" rIns="0" bIns="0" anchor="ctr">
            <a:spAutoFit/>
          </a:bodyPr>
          <a:lstStyle/>
          <a:p>
            <a:pPr algn="l"/>
            <a:r>
              <a:rPr sz="1300" b="0" i="0">
                <a:solidFill>
                  <a:srgbClr val="14142B"/>
                </a:solidFill>
                <a:latin typeface="Calibri"/>
              </a:rPr>
              <a:t>Leads to dead ends and multiple service-centre visits</a:t>
            </a:r>
          </a:p>
        </p:txBody>
      </p:sp>
      <p:sp>
        <p:nvSpPr>
          <p:cNvPr id="17" name="Right Arrow 16"/>
          <p:cNvSpPr/>
          <p:nvPr/>
        </p:nvSpPr>
        <p:spPr>
          <a:xfrm>
            <a:off x="5559552" y="3364992"/>
            <a:ext cx="457200" cy="548640"/>
          </a:xfrm>
          <a:prstGeom prst="rightArrow">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172200" y="3136392"/>
            <a:ext cx="5486400" cy="1005840"/>
          </a:xfrm>
          <a:prstGeom prst="roundRect">
            <a:avLst>
              <a:gd name="adj" fmla="val 8000"/>
            </a:avLst>
          </a:prstGeom>
          <a:solidFill>
            <a:srgbClr val="F3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355080" y="3410712"/>
            <a:ext cx="457200" cy="45720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t>
            </a:r>
          </a:p>
        </p:txBody>
      </p:sp>
      <p:sp>
        <p:nvSpPr>
          <p:cNvPr id="20" name="TextBox 19"/>
          <p:cNvSpPr txBox="1"/>
          <p:nvPr/>
        </p:nvSpPr>
        <p:spPr>
          <a:xfrm>
            <a:off x="6995160" y="3136392"/>
            <a:ext cx="4526280" cy="1005840"/>
          </a:xfrm>
          <a:prstGeom prst="rect">
            <a:avLst/>
          </a:prstGeom>
          <a:noFill/>
        </p:spPr>
        <p:txBody>
          <a:bodyPr wrap="square" lIns="0" tIns="0" rIns="0" bIns="0" anchor="ctr">
            <a:spAutoFit/>
          </a:bodyPr>
          <a:lstStyle/>
          <a:p>
            <a:pPr algn="l"/>
            <a:r>
              <a:rPr sz="1400" b="1" i="0">
                <a:solidFill>
                  <a:srgbClr val="704EA6"/>
                </a:solidFill>
                <a:latin typeface="Calibri"/>
              </a:rPr>
              <a:t>Hybrid BM25 + neural search </a:t>
            </a:r>
            <a:r>
              <a:rPr sz="1400" b="0" i="0">
                <a:solidFill>
                  <a:srgbClr val="14142B"/>
                </a:solidFill>
                <a:latin typeface="Calibri"/>
              </a:rPr>
              <a:t>finds the right issue and avoids hallucination</a:t>
            </a:r>
          </a:p>
        </p:txBody>
      </p:sp>
      <p:sp>
        <p:nvSpPr>
          <p:cNvPr id="21" name="Rounded Rectangle 20"/>
          <p:cNvSpPr/>
          <p:nvPr/>
        </p:nvSpPr>
        <p:spPr>
          <a:xfrm>
            <a:off x="548640" y="4261104"/>
            <a:ext cx="4846320" cy="1005840"/>
          </a:xfrm>
          <a:prstGeom prst="roundRect">
            <a:avLst>
              <a:gd name="adj" fmla="val 8000"/>
            </a:avLst>
          </a:prstGeom>
          <a:solidFill>
            <a:srgbClr val="F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4261104"/>
            <a:ext cx="914400" cy="1005840"/>
          </a:xfrm>
          <a:prstGeom prst="rect">
            <a:avLst/>
          </a:prstGeom>
          <a:noFill/>
        </p:spPr>
        <p:txBody>
          <a:bodyPr wrap="square" lIns="0" tIns="0" rIns="0" bIns="0" anchor="ctr">
            <a:spAutoFit/>
          </a:bodyPr>
          <a:lstStyle/>
          <a:p>
            <a:pPr algn="l"/>
            <a:r>
              <a:rPr sz="1500" b="1" i="0">
                <a:solidFill>
                  <a:srgbClr val="B43A2E"/>
                </a:solidFill>
                <a:latin typeface="Calibri"/>
              </a:rPr>
              <a:t>Gap 3</a:t>
            </a:r>
          </a:p>
        </p:txBody>
      </p:sp>
      <p:sp>
        <p:nvSpPr>
          <p:cNvPr id="23" name="TextBox 22"/>
          <p:cNvSpPr txBox="1"/>
          <p:nvPr/>
        </p:nvSpPr>
        <p:spPr>
          <a:xfrm>
            <a:off x="1508760" y="4261104"/>
            <a:ext cx="3749039" cy="1005840"/>
          </a:xfrm>
          <a:prstGeom prst="rect">
            <a:avLst/>
          </a:prstGeom>
          <a:noFill/>
        </p:spPr>
        <p:txBody>
          <a:bodyPr wrap="square" lIns="0" tIns="0" rIns="0" bIns="0" anchor="ctr">
            <a:spAutoFit/>
          </a:bodyPr>
          <a:lstStyle/>
          <a:p>
            <a:pPr algn="l"/>
            <a:r>
              <a:rPr sz="1300" b="0" i="0">
                <a:solidFill>
                  <a:srgbClr val="14142B"/>
                </a:solidFill>
                <a:latin typeface="Calibri"/>
              </a:rPr>
              <a:t>Only tells users what to do, not where to go; never reaches the right screen</a:t>
            </a:r>
          </a:p>
        </p:txBody>
      </p:sp>
      <p:sp>
        <p:nvSpPr>
          <p:cNvPr id="24" name="Right Arrow 23"/>
          <p:cNvSpPr/>
          <p:nvPr/>
        </p:nvSpPr>
        <p:spPr>
          <a:xfrm>
            <a:off x="5559552" y="4489704"/>
            <a:ext cx="457200" cy="548640"/>
          </a:xfrm>
          <a:prstGeom prst="rightArrow">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172200" y="4261104"/>
            <a:ext cx="5486400" cy="1005840"/>
          </a:xfrm>
          <a:prstGeom prst="roundRect">
            <a:avLst>
              <a:gd name="adj" fmla="val 8000"/>
            </a:avLst>
          </a:prstGeom>
          <a:solidFill>
            <a:srgbClr val="F3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355080" y="4535424"/>
            <a:ext cx="457200" cy="45720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t>
            </a:r>
          </a:p>
        </p:txBody>
      </p:sp>
      <p:sp>
        <p:nvSpPr>
          <p:cNvPr id="27" name="TextBox 26"/>
          <p:cNvSpPr txBox="1"/>
          <p:nvPr/>
        </p:nvSpPr>
        <p:spPr>
          <a:xfrm>
            <a:off x="6995160" y="4261104"/>
            <a:ext cx="4526280" cy="1005840"/>
          </a:xfrm>
          <a:prstGeom prst="rect">
            <a:avLst/>
          </a:prstGeom>
          <a:noFill/>
        </p:spPr>
        <p:txBody>
          <a:bodyPr wrap="square" lIns="0" tIns="0" rIns="0" bIns="0" anchor="ctr">
            <a:spAutoFit/>
          </a:bodyPr>
          <a:lstStyle/>
          <a:p>
            <a:pPr algn="l"/>
            <a:r>
              <a:rPr sz="1400" b="1" i="0">
                <a:solidFill>
                  <a:srgbClr val="704EA6"/>
                </a:solidFill>
                <a:latin typeface="Calibri"/>
              </a:rPr>
              <a:t>Deep-linked steps </a:t>
            </a:r>
            <a:r>
              <a:rPr sz="1400" b="0" i="0">
                <a:solidFill>
                  <a:srgbClr val="14142B"/>
                </a:solidFill>
                <a:latin typeface="Calibri"/>
              </a:rPr>
              <a:t>+ an interactive One UI phone simulator</a:t>
            </a:r>
          </a:p>
        </p:txBody>
      </p:sp>
      <p:sp>
        <p:nvSpPr>
          <p:cNvPr id="28" name="Rounded Rectangle 27"/>
          <p:cNvSpPr/>
          <p:nvPr/>
        </p:nvSpPr>
        <p:spPr>
          <a:xfrm>
            <a:off x="548640" y="5385816"/>
            <a:ext cx="4846320" cy="1005840"/>
          </a:xfrm>
          <a:prstGeom prst="roundRect">
            <a:avLst>
              <a:gd name="adj" fmla="val 8000"/>
            </a:avLst>
          </a:prstGeom>
          <a:solidFill>
            <a:srgbClr val="FD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5385816"/>
            <a:ext cx="914400" cy="1005840"/>
          </a:xfrm>
          <a:prstGeom prst="rect">
            <a:avLst/>
          </a:prstGeom>
          <a:noFill/>
        </p:spPr>
        <p:txBody>
          <a:bodyPr wrap="square" lIns="0" tIns="0" rIns="0" bIns="0" anchor="ctr">
            <a:spAutoFit/>
          </a:bodyPr>
          <a:lstStyle/>
          <a:p>
            <a:pPr algn="l"/>
            <a:r>
              <a:rPr sz="1500" b="1" i="0">
                <a:solidFill>
                  <a:srgbClr val="B43A2E"/>
                </a:solidFill>
                <a:latin typeface="Calibri"/>
              </a:rPr>
              <a:t>Gap 4</a:t>
            </a:r>
          </a:p>
        </p:txBody>
      </p:sp>
      <p:sp>
        <p:nvSpPr>
          <p:cNvPr id="30" name="TextBox 29"/>
          <p:cNvSpPr txBox="1"/>
          <p:nvPr/>
        </p:nvSpPr>
        <p:spPr>
          <a:xfrm>
            <a:off x="1508760" y="5385816"/>
            <a:ext cx="3749039" cy="1005840"/>
          </a:xfrm>
          <a:prstGeom prst="rect">
            <a:avLst/>
          </a:prstGeom>
          <a:noFill/>
        </p:spPr>
        <p:txBody>
          <a:bodyPr wrap="square" lIns="0" tIns="0" rIns="0" bIns="0" anchor="ctr">
            <a:spAutoFit/>
          </a:bodyPr>
          <a:lstStyle/>
          <a:p>
            <a:pPr algn="l"/>
            <a:r>
              <a:rPr sz="1300" b="0" i="0">
                <a:solidFill>
                  <a:srgbClr val="14142B"/>
                </a:solidFill>
                <a:latin typeface="Calibri"/>
              </a:rPr>
              <a:t>Reasoning is opaque, and it never checks whether the issue was resolved</a:t>
            </a:r>
          </a:p>
        </p:txBody>
      </p:sp>
      <p:sp>
        <p:nvSpPr>
          <p:cNvPr id="31" name="Right Arrow 30"/>
          <p:cNvSpPr/>
          <p:nvPr/>
        </p:nvSpPr>
        <p:spPr>
          <a:xfrm>
            <a:off x="5559552" y="5614416"/>
            <a:ext cx="457200" cy="548640"/>
          </a:xfrm>
          <a:prstGeom prst="rightArrow">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6172200" y="5385816"/>
            <a:ext cx="5486400" cy="1005840"/>
          </a:xfrm>
          <a:prstGeom prst="roundRect">
            <a:avLst>
              <a:gd name="adj" fmla="val 8000"/>
            </a:avLst>
          </a:prstGeom>
          <a:solidFill>
            <a:srgbClr val="F3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6355080" y="5660136"/>
            <a:ext cx="457200" cy="457200"/>
          </a:xfrm>
          <a:prstGeom prst="ellipse">
            <a:avLst/>
          </a:prstGeom>
          <a:solidFill>
            <a:srgbClr val="704EA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Calibri"/>
              </a:rPr>
              <a:t>✓</a:t>
            </a:r>
          </a:p>
        </p:txBody>
      </p:sp>
      <p:sp>
        <p:nvSpPr>
          <p:cNvPr id="34" name="TextBox 33"/>
          <p:cNvSpPr txBox="1"/>
          <p:nvPr/>
        </p:nvSpPr>
        <p:spPr>
          <a:xfrm>
            <a:off x="6995160" y="5385816"/>
            <a:ext cx="4526280" cy="1005840"/>
          </a:xfrm>
          <a:prstGeom prst="rect">
            <a:avLst/>
          </a:prstGeom>
          <a:noFill/>
        </p:spPr>
        <p:txBody>
          <a:bodyPr wrap="square" lIns="0" tIns="0" rIns="0" bIns="0" anchor="ctr">
            <a:spAutoFit/>
          </a:bodyPr>
          <a:lstStyle/>
          <a:p>
            <a:pPr algn="l"/>
            <a:r>
              <a:rPr sz="1400" b="1" i="0">
                <a:solidFill>
                  <a:srgbClr val="704EA6"/>
                </a:solidFill>
                <a:latin typeface="Calibri"/>
              </a:rPr>
              <a:t>Inspector drawer </a:t>
            </a:r>
            <a:r>
              <a:rPr sz="1400" b="0" i="0">
                <a:solidFill>
                  <a:srgbClr val="14142B"/>
                </a:solidFill>
                <a:latin typeface="Calibri"/>
              </a:rPr>
              <a:t>shows signals, candidate rankings and latency; resolution check with escalation</a:t>
            </a:r>
          </a:p>
        </p:txBody>
      </p:sp>
    </p:spTree>
    <p:extLst>
      <p:ext uri="{BB962C8B-B14F-4D97-AF65-F5344CB8AC3E}">
        <p14:creationId xmlns:p14="http://schemas.microsoft.com/office/powerpoint/2010/main" val="3104952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84007" y="-294976"/>
            <a:ext cx="10515600" cy="1023964"/>
          </a:xfrm>
        </p:spPr>
        <p:txBody>
          <a:bodyPr>
            <a:normAutofit/>
          </a:bodyPr>
          <a:lstStyle/>
          <a:p>
            <a:r>
              <a:rPr lang="en-IN" sz="2800" b="1" dirty="0">
                <a:solidFill>
                  <a:srgbClr val="704EA6"/>
                </a:solidFill>
                <a:latin typeface="+mn-lt"/>
              </a:rPr>
              <a:t>Our Solutions &amp; Architecture Diagram</a:t>
            </a:r>
          </a:p>
        </p:txBody>
      </p:sp>
      <p:pic>
        <p:nvPicPr>
          <p:cNvPr id="13" name="Content Placeholder 12">
            <a:extLst>
              <a:ext uri="{FF2B5EF4-FFF2-40B4-BE49-F238E27FC236}">
                <a16:creationId xmlns:a16="http://schemas.microsoft.com/office/drawing/2014/main" id="{5ED8216F-570C-CD8B-01FC-03F9B75F239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9440" y="531751"/>
            <a:ext cx="11233966" cy="6326249"/>
          </a:xfrm>
          <a:prstGeom prst="rect">
            <a:avLst/>
          </a:prstGeom>
        </p:spPr>
      </p:pic>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120446" y="89822"/>
            <a:ext cx="10515600" cy="785249"/>
          </a:xfrm>
        </p:spPr>
        <p:txBody>
          <a:bodyPr>
            <a:normAutofit/>
          </a:bodyPr>
          <a:lstStyle/>
          <a:p>
            <a:r>
              <a:rPr lang="en-IN" sz="3600" b="1" dirty="0">
                <a:solidFill>
                  <a:srgbClr val="704EA6"/>
                </a:solidFill>
                <a:latin typeface="+mn-lt"/>
              </a:rPr>
              <a:t>Demo &amp; Product Walkthrough</a:t>
            </a:r>
          </a:p>
        </p:txBody>
      </p:sp>
      <p:sp>
        <p:nvSpPr>
          <p:cNvPr id="5" name="TextBox 4">
            <a:extLst>
              <a:ext uri="{FF2B5EF4-FFF2-40B4-BE49-F238E27FC236}">
                <a16:creationId xmlns:a16="http://schemas.microsoft.com/office/drawing/2014/main" id="{72E3DB12-41FC-DEEA-BA91-11CCE9EBF8AC}"/>
              </a:ext>
            </a:extLst>
          </p:cNvPr>
          <p:cNvSpPr txBox="1"/>
          <p:nvPr/>
        </p:nvSpPr>
        <p:spPr>
          <a:xfrm>
            <a:off x="1042219" y="2703871"/>
            <a:ext cx="10756490" cy="369332"/>
          </a:xfrm>
          <a:prstGeom prst="rect">
            <a:avLst/>
          </a:prstGeom>
          <a:noFill/>
        </p:spPr>
        <p:txBody>
          <a:bodyPr wrap="square" rtlCol="0">
            <a:spAutoFit/>
          </a:bodyPr>
          <a:lstStyle/>
          <a:p>
            <a:r>
              <a:rPr lang="en-US" dirty="0"/>
              <a:t>Drive Link: </a:t>
            </a:r>
            <a:r>
              <a:rPr lang="en-US" dirty="0">
                <a:hlinkClick r:id="rId2"/>
              </a:rPr>
              <a:t>https://drive.google.com/drive/folders/1WOhcyM7IJ1Eaqlwwx5GtKsKeJh3BnXIL?usp=sharing</a:t>
            </a:r>
            <a:endParaRPr lang="en-IN" dirty="0"/>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0" y="-68826"/>
            <a:ext cx="6742471" cy="982765"/>
          </a:xfrm>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pic>
        <p:nvPicPr>
          <p:cNvPr id="5" name="Content Placeholder 4">
            <a:extLst>
              <a:ext uri="{FF2B5EF4-FFF2-40B4-BE49-F238E27FC236}">
                <a16:creationId xmlns:a16="http://schemas.microsoft.com/office/drawing/2014/main" id="{2B82A3DC-4DFA-7A7F-0BBA-EE83C8C4808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11145" b="29202"/>
          <a:stretch>
            <a:fillRect/>
          </a:stretch>
        </p:blipFill>
        <p:spPr>
          <a:xfrm>
            <a:off x="138240" y="1317522"/>
            <a:ext cx="11736812" cy="3942736"/>
          </a:xfrm>
          <a:prstGeom prst="rect">
            <a:avLst/>
          </a:prstGeom>
        </p:spPr>
      </p:pic>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156455" y="25031"/>
            <a:ext cx="6221361" cy="427253"/>
          </a:xfrm>
        </p:spPr>
        <p:txBody>
          <a:bodyPr>
            <a:noAutofit/>
          </a:bodyPr>
          <a:lstStyle/>
          <a:p>
            <a:r>
              <a:rPr lang="en-US" sz="3200" b="1" dirty="0">
                <a:solidFill>
                  <a:srgbClr val="704EA6"/>
                </a:solidFill>
                <a:latin typeface="Calibri" pitchFamily="34" charset="0"/>
                <a:ea typeface="Calibri" pitchFamily="34" charset="-122"/>
                <a:cs typeface="Calibri" pitchFamily="34" charset="-120"/>
              </a:rPr>
              <a:t>Impact &amp; Use case</a:t>
            </a:r>
            <a:endParaRPr lang="en-IN" sz="3200" b="1" dirty="0">
              <a:solidFill>
                <a:srgbClr val="704EA6"/>
              </a:solidFill>
            </a:endParaRPr>
          </a:p>
        </p:txBody>
      </p:sp>
      <p:pic>
        <p:nvPicPr>
          <p:cNvPr id="5" name="Content Placeholder 4">
            <a:extLst>
              <a:ext uri="{FF2B5EF4-FFF2-40B4-BE49-F238E27FC236}">
                <a16:creationId xmlns:a16="http://schemas.microsoft.com/office/drawing/2014/main" id="{5B96FBD8-FAA5-9451-7AB3-048B7F6D5E5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7982"/>
          <a:stretch>
            <a:fillRect/>
          </a:stretch>
        </p:blipFill>
        <p:spPr>
          <a:xfrm>
            <a:off x="156455" y="585009"/>
            <a:ext cx="11879090" cy="6151932"/>
          </a:xfrm>
          <a:prstGeom prst="rect">
            <a:avLst/>
          </a:prstGeom>
        </p:spPr>
      </p:pic>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8046720" cy="502920"/>
          </a:xfrm>
          <a:prstGeom prst="rect">
            <a:avLst/>
          </a:prstGeom>
          <a:noFill/>
        </p:spPr>
        <p:txBody>
          <a:bodyPr wrap="square" anchor="t">
            <a:spAutoFit/>
          </a:bodyPr>
          <a:lstStyle/>
          <a:p>
            <a:pPr algn="l"/>
            <a:r>
              <a:rPr sz="2700" b="1" dirty="0">
                <a:solidFill>
                  <a:srgbClr val="7030A0"/>
                </a:solidFill>
                <a:latin typeface="Aptos"/>
              </a:rPr>
              <a:t>8. Innovation, Results &amp; Limitations</a:t>
            </a:r>
          </a:p>
        </p:txBody>
      </p:sp>
      <p:sp>
        <p:nvSpPr>
          <p:cNvPr id="3" name="TextBox 2"/>
          <p:cNvSpPr txBox="1"/>
          <p:nvPr/>
        </p:nvSpPr>
        <p:spPr>
          <a:xfrm>
            <a:off x="530352" y="841248"/>
            <a:ext cx="8046720" cy="292608"/>
          </a:xfrm>
          <a:prstGeom prst="rect">
            <a:avLst/>
          </a:prstGeom>
          <a:noFill/>
        </p:spPr>
        <p:txBody>
          <a:bodyPr wrap="square" anchor="t">
            <a:spAutoFit/>
          </a:bodyPr>
          <a:lstStyle/>
          <a:p>
            <a:pPr algn="l"/>
            <a:r>
              <a:rPr sz="1150" b="0">
                <a:solidFill>
                  <a:srgbClr val="667384"/>
                </a:solidFill>
                <a:latin typeface="Aptos"/>
              </a:rPr>
              <a:t>What makes SmartGuide technically useful — and where the prototype still stops</a:t>
            </a:r>
          </a:p>
        </p:txBody>
      </p:sp>
      <p:sp>
        <p:nvSpPr>
          <p:cNvPr id="4" name="Rounded Rectangle 3"/>
          <p:cNvSpPr/>
          <p:nvPr/>
        </p:nvSpPr>
        <p:spPr>
          <a:xfrm>
            <a:off x="10012680" y="347472"/>
            <a:ext cx="1627632" cy="457200"/>
          </a:xfrm>
          <a:prstGeom prst="roundRect">
            <a:avLst/>
          </a:prstGeom>
          <a:solidFill>
            <a:srgbClr val="EBF4FF"/>
          </a:solidFill>
          <a:ln w="12700">
            <a:solidFill>
              <a:srgbClr val="EB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104120" y="420624"/>
            <a:ext cx="1444752" cy="256032"/>
          </a:xfrm>
          <a:prstGeom prst="rect">
            <a:avLst/>
          </a:prstGeom>
          <a:noFill/>
        </p:spPr>
        <p:txBody>
          <a:bodyPr wrap="square" anchor="t">
            <a:spAutoFit/>
          </a:bodyPr>
          <a:lstStyle/>
          <a:p>
            <a:pPr algn="ctr"/>
            <a:r>
              <a:rPr sz="900" b="1">
                <a:solidFill>
                  <a:srgbClr val="2A79E0"/>
                </a:solidFill>
                <a:latin typeface="Aptos"/>
              </a:rPr>
              <a:t>PROTOTYPE • VALIDATED</a:t>
            </a:r>
          </a:p>
        </p:txBody>
      </p:sp>
      <p:sp>
        <p:nvSpPr>
          <p:cNvPr id="6" name="Rounded Rectangle 5"/>
          <p:cNvSpPr/>
          <p:nvPr/>
        </p:nvSpPr>
        <p:spPr>
          <a:xfrm>
            <a:off x="502920" y="1234440"/>
            <a:ext cx="3675887" cy="457200"/>
          </a:xfrm>
          <a:prstGeom prst="roundRect">
            <a:avLst/>
          </a:prstGeom>
          <a:solidFill>
            <a:srgbClr val="EBF4FF"/>
          </a:solidFill>
          <a:ln w="12700">
            <a:solidFill>
              <a:srgbClr val="EBF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9224" y="1325880"/>
            <a:ext cx="3383279" cy="237744"/>
          </a:xfrm>
          <a:prstGeom prst="rect">
            <a:avLst/>
          </a:prstGeom>
          <a:noFill/>
        </p:spPr>
        <p:txBody>
          <a:bodyPr wrap="square" anchor="t">
            <a:spAutoFit/>
          </a:bodyPr>
          <a:lstStyle/>
          <a:p>
            <a:pPr algn="l"/>
            <a:r>
              <a:rPr sz="1100" b="1">
                <a:solidFill>
                  <a:srgbClr val="2A79E0"/>
                </a:solidFill>
                <a:latin typeface="Aptos"/>
              </a:rPr>
              <a:t>INNOVATION</a:t>
            </a:r>
          </a:p>
        </p:txBody>
      </p:sp>
      <p:sp>
        <p:nvSpPr>
          <p:cNvPr id="8" name="Rounded Rectangle 7"/>
          <p:cNvSpPr/>
          <p:nvPr/>
        </p:nvSpPr>
        <p:spPr>
          <a:xfrm>
            <a:off x="4325112" y="1234440"/>
            <a:ext cx="3246120" cy="457200"/>
          </a:xfrm>
          <a:prstGeom prst="roundRect">
            <a:avLst/>
          </a:prstGeom>
          <a:solidFill>
            <a:srgbClr val="EBF9F6"/>
          </a:solidFill>
          <a:ln w="12700">
            <a:solidFill>
              <a:srgbClr val="EBF9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71416" y="1325880"/>
            <a:ext cx="2953512" cy="237744"/>
          </a:xfrm>
          <a:prstGeom prst="rect">
            <a:avLst/>
          </a:prstGeom>
          <a:noFill/>
        </p:spPr>
        <p:txBody>
          <a:bodyPr wrap="square" anchor="t">
            <a:spAutoFit/>
          </a:bodyPr>
          <a:lstStyle/>
          <a:p>
            <a:pPr algn="l"/>
            <a:r>
              <a:rPr sz="1100" b="1">
                <a:solidFill>
                  <a:srgbClr val="279D8A"/>
                </a:solidFill>
                <a:latin typeface="Aptos"/>
              </a:rPr>
              <a:t>RESULTS</a:t>
            </a:r>
          </a:p>
        </p:txBody>
      </p:sp>
      <p:sp>
        <p:nvSpPr>
          <p:cNvPr id="10" name="Rounded Rectangle 9"/>
          <p:cNvSpPr/>
          <p:nvPr/>
        </p:nvSpPr>
        <p:spPr>
          <a:xfrm>
            <a:off x="7726679" y="1234440"/>
            <a:ext cx="3959352" cy="457200"/>
          </a:xfrm>
          <a:prstGeom prst="roundRect">
            <a:avLst/>
          </a:prstGeom>
          <a:solidFill>
            <a:srgbClr val="FFF1F1"/>
          </a:solidFill>
          <a:ln w="12700">
            <a:solidFill>
              <a:srgbClr val="FFF1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72983" y="1325880"/>
            <a:ext cx="3666744" cy="237744"/>
          </a:xfrm>
          <a:prstGeom prst="rect">
            <a:avLst/>
          </a:prstGeom>
          <a:noFill/>
        </p:spPr>
        <p:txBody>
          <a:bodyPr wrap="square" anchor="t">
            <a:spAutoFit/>
          </a:bodyPr>
          <a:lstStyle/>
          <a:p>
            <a:pPr algn="l"/>
            <a:r>
              <a:rPr sz="1100" b="1">
                <a:solidFill>
                  <a:srgbClr val="E05B5B"/>
                </a:solidFill>
                <a:latin typeface="Aptos"/>
              </a:rPr>
              <a:t>LIMITATIONS</a:t>
            </a:r>
          </a:p>
        </p:txBody>
      </p:sp>
      <p:sp>
        <p:nvSpPr>
          <p:cNvPr id="12" name="Rounded Rectangle 11"/>
          <p:cNvSpPr/>
          <p:nvPr/>
        </p:nvSpPr>
        <p:spPr>
          <a:xfrm>
            <a:off x="502920" y="1810512"/>
            <a:ext cx="3675887" cy="932688"/>
          </a:xfrm>
          <a:prstGeom prst="roundRect">
            <a:avLst/>
          </a:prstGeom>
          <a:solidFill>
            <a:srgbClr val="FFFFFF"/>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02920" y="1810512"/>
            <a:ext cx="54864" cy="932688"/>
          </a:xfrm>
          <a:prstGeom prst="rect">
            <a:avLst/>
          </a:prstGeom>
          <a:solidFill>
            <a:srgbClr val="2A7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04088" y="1993392"/>
            <a:ext cx="438912" cy="438912"/>
          </a:xfrm>
          <a:prstGeom prst="ellipse">
            <a:avLst/>
          </a:prstGeom>
          <a:solidFill>
            <a:srgbClr val="2A7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4088" y="1993392"/>
            <a:ext cx="438912" cy="438912"/>
          </a:xfrm>
          <a:prstGeom prst="rect">
            <a:avLst/>
          </a:prstGeom>
          <a:noFill/>
        </p:spPr>
        <p:txBody>
          <a:bodyPr wrap="square" anchor="ctr">
            <a:spAutoFit/>
          </a:bodyPr>
          <a:lstStyle/>
          <a:p>
            <a:pPr algn="ctr"/>
            <a:r>
              <a:rPr sz="1600" b="1">
                <a:solidFill>
                  <a:srgbClr val="FFFFFF"/>
                </a:solidFill>
                <a:latin typeface="Aptos"/>
              </a:rPr>
              <a:t>↔</a:t>
            </a:r>
          </a:p>
        </p:txBody>
      </p:sp>
      <p:sp>
        <p:nvSpPr>
          <p:cNvPr id="16" name="TextBox 15"/>
          <p:cNvSpPr txBox="1"/>
          <p:nvPr/>
        </p:nvSpPr>
        <p:spPr>
          <a:xfrm>
            <a:off x="1252728" y="1956816"/>
            <a:ext cx="2715768" cy="320040"/>
          </a:xfrm>
          <a:prstGeom prst="rect">
            <a:avLst/>
          </a:prstGeom>
          <a:noFill/>
        </p:spPr>
        <p:txBody>
          <a:bodyPr wrap="square" anchor="t">
            <a:spAutoFit/>
          </a:bodyPr>
          <a:lstStyle/>
          <a:p>
            <a:pPr algn="l"/>
            <a:r>
              <a:rPr sz="1500" b="1">
                <a:solidFill>
                  <a:srgbClr val="142B4A"/>
                </a:solidFill>
                <a:latin typeface="Aptos"/>
              </a:rPr>
              <a:t>Hybrid retrieval</a:t>
            </a:r>
          </a:p>
        </p:txBody>
      </p:sp>
      <p:sp>
        <p:nvSpPr>
          <p:cNvPr id="17" name="TextBox 16"/>
          <p:cNvSpPr txBox="1"/>
          <p:nvPr/>
        </p:nvSpPr>
        <p:spPr>
          <a:xfrm>
            <a:off x="1252728" y="2216388"/>
            <a:ext cx="2715768" cy="310896"/>
          </a:xfrm>
          <a:prstGeom prst="rect">
            <a:avLst/>
          </a:prstGeom>
          <a:noFill/>
        </p:spPr>
        <p:txBody>
          <a:bodyPr wrap="square" anchor="t">
            <a:spAutoFit/>
          </a:bodyPr>
          <a:lstStyle/>
          <a:p>
            <a:pPr algn="l"/>
            <a:r>
              <a:rPr sz="1050" b="0" dirty="0">
                <a:solidFill>
                  <a:srgbClr val="667384"/>
                </a:solidFill>
                <a:latin typeface="Aptos"/>
              </a:rPr>
              <a:t>Combines BM25 keyword matching with dense semantic retrieval, then ranks candidates using RRF.</a:t>
            </a:r>
          </a:p>
        </p:txBody>
      </p:sp>
      <p:sp>
        <p:nvSpPr>
          <p:cNvPr id="18" name="Rounded Rectangle 17"/>
          <p:cNvSpPr/>
          <p:nvPr/>
        </p:nvSpPr>
        <p:spPr>
          <a:xfrm>
            <a:off x="502920" y="2852928"/>
            <a:ext cx="3675887" cy="932688"/>
          </a:xfrm>
          <a:prstGeom prst="roundRect">
            <a:avLst/>
          </a:prstGeom>
          <a:solidFill>
            <a:srgbClr val="FFFFFF"/>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02920" y="2852928"/>
            <a:ext cx="54864" cy="932688"/>
          </a:xfrm>
          <a:prstGeom prst="rect">
            <a:avLst/>
          </a:prstGeom>
          <a:solidFill>
            <a:srgbClr val="2A7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704088" y="3035808"/>
            <a:ext cx="438912" cy="438912"/>
          </a:xfrm>
          <a:prstGeom prst="ellipse">
            <a:avLst/>
          </a:prstGeom>
          <a:solidFill>
            <a:srgbClr val="2A7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04088" y="3035808"/>
            <a:ext cx="438912" cy="438912"/>
          </a:xfrm>
          <a:prstGeom prst="rect">
            <a:avLst/>
          </a:prstGeom>
          <a:noFill/>
        </p:spPr>
        <p:txBody>
          <a:bodyPr wrap="square" anchor="ctr">
            <a:spAutoFit/>
          </a:bodyPr>
          <a:lstStyle/>
          <a:p>
            <a:pPr algn="ctr"/>
            <a:r>
              <a:rPr sz="1600" b="1">
                <a:solidFill>
                  <a:srgbClr val="FFFFFF"/>
                </a:solidFill>
                <a:latin typeface="Aptos"/>
              </a:rPr>
              <a:t>AI</a:t>
            </a:r>
          </a:p>
        </p:txBody>
      </p:sp>
      <p:sp>
        <p:nvSpPr>
          <p:cNvPr id="22" name="TextBox 21"/>
          <p:cNvSpPr txBox="1"/>
          <p:nvPr/>
        </p:nvSpPr>
        <p:spPr>
          <a:xfrm>
            <a:off x="1115568" y="2960787"/>
            <a:ext cx="3218688" cy="320040"/>
          </a:xfrm>
          <a:prstGeom prst="rect">
            <a:avLst/>
          </a:prstGeom>
          <a:noFill/>
        </p:spPr>
        <p:txBody>
          <a:bodyPr wrap="square" anchor="t">
            <a:spAutoFit/>
          </a:bodyPr>
          <a:lstStyle/>
          <a:p>
            <a:pPr algn="l"/>
            <a:r>
              <a:rPr sz="1500" b="1" dirty="0">
                <a:solidFill>
                  <a:srgbClr val="142B4A"/>
                </a:solidFill>
                <a:latin typeface="Aptos"/>
              </a:rPr>
              <a:t>Natural-language understanding</a:t>
            </a:r>
          </a:p>
        </p:txBody>
      </p:sp>
      <p:sp>
        <p:nvSpPr>
          <p:cNvPr id="23" name="TextBox 22"/>
          <p:cNvSpPr txBox="1"/>
          <p:nvPr/>
        </p:nvSpPr>
        <p:spPr>
          <a:xfrm>
            <a:off x="1193292" y="3227537"/>
            <a:ext cx="2715768" cy="310896"/>
          </a:xfrm>
          <a:prstGeom prst="rect">
            <a:avLst/>
          </a:prstGeom>
          <a:noFill/>
        </p:spPr>
        <p:txBody>
          <a:bodyPr wrap="square" anchor="t">
            <a:spAutoFit/>
          </a:bodyPr>
          <a:lstStyle/>
          <a:p>
            <a:pPr algn="l"/>
            <a:r>
              <a:rPr sz="1050" b="0" dirty="0">
                <a:solidFill>
                  <a:srgbClr val="667384"/>
                </a:solidFill>
                <a:latin typeface="Aptos"/>
              </a:rPr>
              <a:t>Canonicalizes colloquial complaints before matching them to the troubleshooting knowledge base.</a:t>
            </a:r>
          </a:p>
        </p:txBody>
      </p:sp>
      <p:sp>
        <p:nvSpPr>
          <p:cNvPr id="24" name="Rounded Rectangle 23"/>
          <p:cNvSpPr/>
          <p:nvPr/>
        </p:nvSpPr>
        <p:spPr>
          <a:xfrm>
            <a:off x="502920" y="3895344"/>
            <a:ext cx="3675887" cy="932688"/>
          </a:xfrm>
          <a:prstGeom prst="roundRect">
            <a:avLst/>
          </a:prstGeom>
          <a:solidFill>
            <a:srgbClr val="FFFFFF"/>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02920" y="3895344"/>
            <a:ext cx="54864" cy="932688"/>
          </a:xfrm>
          <a:prstGeom prst="rect">
            <a:avLst/>
          </a:prstGeom>
          <a:solidFill>
            <a:srgbClr val="2A7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704088" y="4078224"/>
            <a:ext cx="438912" cy="438912"/>
          </a:xfrm>
          <a:prstGeom prst="ellipse">
            <a:avLst/>
          </a:prstGeom>
          <a:solidFill>
            <a:srgbClr val="2A7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4088" y="4078224"/>
            <a:ext cx="438912" cy="438912"/>
          </a:xfrm>
          <a:prstGeom prst="rect">
            <a:avLst/>
          </a:prstGeom>
          <a:noFill/>
        </p:spPr>
        <p:txBody>
          <a:bodyPr wrap="square" anchor="ctr">
            <a:spAutoFit/>
          </a:bodyPr>
          <a:lstStyle/>
          <a:p>
            <a:pPr algn="ctr"/>
            <a:r>
              <a:rPr sz="1600" b="1">
                <a:solidFill>
                  <a:srgbClr val="FFFFFF"/>
                </a:solidFill>
                <a:latin typeface="Aptos"/>
              </a:rPr>
              <a:t>→</a:t>
            </a:r>
          </a:p>
        </p:txBody>
      </p:sp>
      <p:sp>
        <p:nvSpPr>
          <p:cNvPr id="28" name="TextBox 27"/>
          <p:cNvSpPr txBox="1"/>
          <p:nvPr/>
        </p:nvSpPr>
        <p:spPr>
          <a:xfrm>
            <a:off x="1193292" y="3943719"/>
            <a:ext cx="2715768" cy="320040"/>
          </a:xfrm>
          <a:prstGeom prst="rect">
            <a:avLst/>
          </a:prstGeom>
          <a:noFill/>
        </p:spPr>
        <p:txBody>
          <a:bodyPr wrap="square" anchor="t">
            <a:spAutoFit/>
          </a:bodyPr>
          <a:lstStyle/>
          <a:p>
            <a:pPr algn="l"/>
            <a:r>
              <a:rPr sz="1500" b="1">
                <a:solidFill>
                  <a:srgbClr val="142B4A"/>
                </a:solidFill>
                <a:latin typeface="Aptos"/>
              </a:rPr>
              <a:t>Guided, not generic</a:t>
            </a:r>
          </a:p>
        </p:txBody>
      </p:sp>
      <p:sp>
        <p:nvSpPr>
          <p:cNvPr id="29" name="TextBox 28"/>
          <p:cNvSpPr txBox="1"/>
          <p:nvPr/>
        </p:nvSpPr>
        <p:spPr>
          <a:xfrm>
            <a:off x="1193292" y="4228805"/>
            <a:ext cx="2715768" cy="310896"/>
          </a:xfrm>
          <a:prstGeom prst="rect">
            <a:avLst/>
          </a:prstGeom>
          <a:noFill/>
        </p:spPr>
        <p:txBody>
          <a:bodyPr wrap="square" anchor="t">
            <a:spAutoFit/>
          </a:bodyPr>
          <a:lstStyle/>
          <a:p>
            <a:pPr algn="l"/>
            <a:r>
              <a:rPr sz="1050" b="0" dirty="0">
                <a:solidFill>
                  <a:srgbClr val="667384"/>
                </a:solidFill>
                <a:latin typeface="Aptos"/>
              </a:rPr>
              <a:t>Maps the diagnosis to ordered actions and an exact Settings destination using a simulated </a:t>
            </a:r>
            <a:r>
              <a:rPr sz="1050" b="0" dirty="0" err="1">
                <a:solidFill>
                  <a:srgbClr val="667384"/>
                </a:solidFill>
                <a:latin typeface="Aptos"/>
              </a:rPr>
              <a:t>deeplink</a:t>
            </a:r>
            <a:r>
              <a:rPr sz="1050" b="0" dirty="0">
                <a:solidFill>
                  <a:srgbClr val="667384"/>
                </a:solidFill>
                <a:latin typeface="Aptos"/>
              </a:rPr>
              <a:t>.</a:t>
            </a:r>
          </a:p>
        </p:txBody>
      </p:sp>
      <p:sp>
        <p:nvSpPr>
          <p:cNvPr id="30" name="Rounded Rectangle 29"/>
          <p:cNvSpPr/>
          <p:nvPr/>
        </p:nvSpPr>
        <p:spPr>
          <a:xfrm>
            <a:off x="502920" y="4937760"/>
            <a:ext cx="3675887" cy="932688"/>
          </a:xfrm>
          <a:prstGeom prst="roundRect">
            <a:avLst/>
          </a:prstGeom>
          <a:solidFill>
            <a:srgbClr val="FFFFFF"/>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02920" y="4937760"/>
            <a:ext cx="54864" cy="932688"/>
          </a:xfrm>
          <a:prstGeom prst="rect">
            <a:avLst/>
          </a:prstGeom>
          <a:solidFill>
            <a:srgbClr val="2A7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704088" y="5120640"/>
            <a:ext cx="438912" cy="438912"/>
          </a:xfrm>
          <a:prstGeom prst="ellipse">
            <a:avLst/>
          </a:prstGeom>
          <a:solidFill>
            <a:srgbClr val="2A79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04088" y="5120640"/>
            <a:ext cx="438912" cy="438912"/>
          </a:xfrm>
          <a:prstGeom prst="rect">
            <a:avLst/>
          </a:prstGeom>
          <a:noFill/>
        </p:spPr>
        <p:txBody>
          <a:bodyPr wrap="square" anchor="ctr">
            <a:spAutoFit/>
          </a:bodyPr>
          <a:lstStyle/>
          <a:p>
            <a:pPr algn="ctr"/>
            <a:r>
              <a:rPr sz="1600" b="1">
                <a:solidFill>
                  <a:srgbClr val="FFFFFF"/>
                </a:solidFill>
                <a:latin typeface="Aptos"/>
              </a:rPr>
              <a:t>✓</a:t>
            </a:r>
          </a:p>
        </p:txBody>
      </p:sp>
      <p:sp>
        <p:nvSpPr>
          <p:cNvPr id="34" name="TextBox 33"/>
          <p:cNvSpPr txBox="1"/>
          <p:nvPr/>
        </p:nvSpPr>
        <p:spPr>
          <a:xfrm>
            <a:off x="1252728" y="4974336"/>
            <a:ext cx="2715768" cy="320040"/>
          </a:xfrm>
          <a:prstGeom prst="rect">
            <a:avLst/>
          </a:prstGeom>
          <a:noFill/>
        </p:spPr>
        <p:txBody>
          <a:bodyPr wrap="square" anchor="t">
            <a:spAutoFit/>
          </a:bodyPr>
          <a:lstStyle/>
          <a:p>
            <a:pPr algn="l"/>
            <a:r>
              <a:rPr sz="1500" b="1" dirty="0">
                <a:solidFill>
                  <a:srgbClr val="142B4A"/>
                </a:solidFill>
                <a:latin typeface="Aptos"/>
              </a:rPr>
              <a:t>Multi-turn + verification</a:t>
            </a:r>
          </a:p>
        </p:txBody>
      </p:sp>
      <p:sp>
        <p:nvSpPr>
          <p:cNvPr id="35" name="TextBox 34"/>
          <p:cNvSpPr txBox="1"/>
          <p:nvPr/>
        </p:nvSpPr>
        <p:spPr>
          <a:xfrm>
            <a:off x="1252728" y="5236071"/>
            <a:ext cx="2715768" cy="310896"/>
          </a:xfrm>
          <a:prstGeom prst="rect">
            <a:avLst/>
          </a:prstGeom>
          <a:noFill/>
        </p:spPr>
        <p:txBody>
          <a:bodyPr wrap="square" anchor="t">
            <a:spAutoFit/>
          </a:bodyPr>
          <a:lstStyle/>
          <a:p>
            <a:pPr algn="l"/>
            <a:r>
              <a:rPr sz="1050" b="0" dirty="0">
                <a:solidFill>
                  <a:srgbClr val="667384"/>
                </a:solidFill>
                <a:latin typeface="Aptos"/>
              </a:rPr>
              <a:t>Can ask clarifying questions and lets the user verify the recommended setting after the guided step.</a:t>
            </a:r>
          </a:p>
        </p:txBody>
      </p:sp>
      <p:sp>
        <p:nvSpPr>
          <p:cNvPr id="36" name="Rounded Rectangle 35"/>
          <p:cNvSpPr/>
          <p:nvPr/>
        </p:nvSpPr>
        <p:spPr>
          <a:xfrm>
            <a:off x="4325112" y="1810512"/>
            <a:ext cx="1536192" cy="841248"/>
          </a:xfrm>
          <a:prstGeom prst="roundRect">
            <a:avLst/>
          </a:prstGeom>
          <a:solidFill>
            <a:srgbClr val="FFFFFF"/>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89704" y="1901952"/>
            <a:ext cx="1207007" cy="310896"/>
          </a:xfrm>
          <a:prstGeom prst="rect">
            <a:avLst/>
          </a:prstGeom>
          <a:noFill/>
        </p:spPr>
        <p:txBody>
          <a:bodyPr wrap="square" anchor="t">
            <a:spAutoFit/>
          </a:bodyPr>
          <a:lstStyle/>
          <a:p>
            <a:pPr algn="l"/>
            <a:r>
              <a:rPr sz="2200" b="1">
                <a:solidFill>
                  <a:srgbClr val="279D8A"/>
                </a:solidFill>
                <a:latin typeface="Aptos"/>
              </a:rPr>
              <a:t>83.9%</a:t>
            </a:r>
          </a:p>
        </p:txBody>
      </p:sp>
      <p:sp>
        <p:nvSpPr>
          <p:cNvPr id="38" name="TextBox 37"/>
          <p:cNvSpPr txBox="1"/>
          <p:nvPr/>
        </p:nvSpPr>
        <p:spPr>
          <a:xfrm>
            <a:off x="4489704" y="2258568"/>
            <a:ext cx="1207007" cy="256032"/>
          </a:xfrm>
          <a:prstGeom prst="rect">
            <a:avLst/>
          </a:prstGeom>
          <a:noFill/>
        </p:spPr>
        <p:txBody>
          <a:bodyPr wrap="square" anchor="t">
            <a:spAutoFit/>
          </a:bodyPr>
          <a:lstStyle/>
          <a:p>
            <a:pPr algn="l"/>
            <a:r>
              <a:rPr sz="950" b="0">
                <a:solidFill>
                  <a:srgbClr val="667384"/>
                </a:solidFill>
                <a:latin typeface="Aptos"/>
              </a:rPr>
              <a:t>Top-1 accuracy</a:t>
            </a:r>
          </a:p>
        </p:txBody>
      </p:sp>
      <p:sp>
        <p:nvSpPr>
          <p:cNvPr id="39" name="Rounded Rectangle 38"/>
          <p:cNvSpPr/>
          <p:nvPr/>
        </p:nvSpPr>
        <p:spPr>
          <a:xfrm>
            <a:off x="5971032" y="1810512"/>
            <a:ext cx="1536192" cy="841248"/>
          </a:xfrm>
          <a:prstGeom prst="roundRect">
            <a:avLst/>
          </a:prstGeom>
          <a:solidFill>
            <a:srgbClr val="FFFFFF"/>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135624" y="1901952"/>
            <a:ext cx="1207007" cy="310896"/>
          </a:xfrm>
          <a:prstGeom prst="rect">
            <a:avLst/>
          </a:prstGeom>
          <a:noFill/>
        </p:spPr>
        <p:txBody>
          <a:bodyPr wrap="square" anchor="t">
            <a:spAutoFit/>
          </a:bodyPr>
          <a:lstStyle/>
          <a:p>
            <a:pPr algn="l"/>
            <a:r>
              <a:rPr sz="2200" b="1">
                <a:solidFill>
                  <a:srgbClr val="279D8A"/>
                </a:solidFill>
                <a:latin typeface="Aptos"/>
              </a:rPr>
              <a:t>93.6%</a:t>
            </a:r>
          </a:p>
        </p:txBody>
      </p:sp>
      <p:sp>
        <p:nvSpPr>
          <p:cNvPr id="41" name="TextBox 40"/>
          <p:cNvSpPr txBox="1"/>
          <p:nvPr/>
        </p:nvSpPr>
        <p:spPr>
          <a:xfrm>
            <a:off x="6135624" y="2258568"/>
            <a:ext cx="1207007" cy="256032"/>
          </a:xfrm>
          <a:prstGeom prst="rect">
            <a:avLst/>
          </a:prstGeom>
          <a:noFill/>
        </p:spPr>
        <p:txBody>
          <a:bodyPr wrap="square" anchor="t">
            <a:spAutoFit/>
          </a:bodyPr>
          <a:lstStyle/>
          <a:p>
            <a:pPr algn="l"/>
            <a:r>
              <a:rPr sz="950" b="0">
                <a:solidFill>
                  <a:srgbClr val="667384"/>
                </a:solidFill>
                <a:latin typeface="Aptos"/>
              </a:rPr>
              <a:t>Top-3 accuracy</a:t>
            </a:r>
          </a:p>
        </p:txBody>
      </p:sp>
      <p:sp>
        <p:nvSpPr>
          <p:cNvPr id="42" name="Rounded Rectangle 41"/>
          <p:cNvSpPr/>
          <p:nvPr/>
        </p:nvSpPr>
        <p:spPr>
          <a:xfrm>
            <a:off x="4325112" y="2770632"/>
            <a:ext cx="1536192" cy="841248"/>
          </a:xfrm>
          <a:prstGeom prst="roundRect">
            <a:avLst/>
          </a:prstGeom>
          <a:solidFill>
            <a:srgbClr val="FFFFFF"/>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89704" y="2862072"/>
            <a:ext cx="1207007" cy="310896"/>
          </a:xfrm>
          <a:prstGeom prst="rect">
            <a:avLst/>
          </a:prstGeom>
          <a:noFill/>
        </p:spPr>
        <p:txBody>
          <a:bodyPr wrap="square" anchor="t">
            <a:spAutoFit/>
          </a:bodyPr>
          <a:lstStyle/>
          <a:p>
            <a:pPr algn="l"/>
            <a:r>
              <a:rPr sz="2200" b="1">
                <a:solidFill>
                  <a:srgbClr val="279D8A"/>
                </a:solidFill>
                <a:latin typeface="Aptos"/>
              </a:rPr>
              <a:t>100%</a:t>
            </a:r>
          </a:p>
        </p:txBody>
      </p:sp>
      <p:sp>
        <p:nvSpPr>
          <p:cNvPr id="44" name="TextBox 43"/>
          <p:cNvSpPr txBox="1"/>
          <p:nvPr/>
        </p:nvSpPr>
        <p:spPr>
          <a:xfrm>
            <a:off x="4489704" y="3218687"/>
            <a:ext cx="1207007" cy="256032"/>
          </a:xfrm>
          <a:prstGeom prst="rect">
            <a:avLst/>
          </a:prstGeom>
          <a:noFill/>
        </p:spPr>
        <p:txBody>
          <a:bodyPr wrap="square" anchor="t">
            <a:spAutoFit/>
          </a:bodyPr>
          <a:lstStyle/>
          <a:p>
            <a:pPr algn="l"/>
            <a:r>
              <a:rPr sz="950" b="0">
                <a:solidFill>
                  <a:srgbClr val="667384"/>
                </a:solidFill>
                <a:latin typeface="Aptos"/>
              </a:rPr>
              <a:t>Unsupported rejection</a:t>
            </a:r>
          </a:p>
        </p:txBody>
      </p:sp>
      <p:sp>
        <p:nvSpPr>
          <p:cNvPr id="45" name="Rounded Rectangle 44"/>
          <p:cNvSpPr/>
          <p:nvPr/>
        </p:nvSpPr>
        <p:spPr>
          <a:xfrm>
            <a:off x="5971032" y="2770632"/>
            <a:ext cx="1536192" cy="841248"/>
          </a:xfrm>
          <a:prstGeom prst="roundRect">
            <a:avLst/>
          </a:prstGeom>
          <a:solidFill>
            <a:srgbClr val="FFFFFF"/>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135624" y="2862072"/>
            <a:ext cx="1207007" cy="369332"/>
          </a:xfrm>
          <a:prstGeom prst="rect">
            <a:avLst/>
          </a:prstGeom>
          <a:noFill/>
        </p:spPr>
        <p:txBody>
          <a:bodyPr wrap="square" anchor="t">
            <a:spAutoFit/>
          </a:bodyPr>
          <a:lstStyle/>
          <a:p>
            <a:pPr algn="l"/>
            <a:r>
              <a:rPr b="1" dirty="0">
                <a:solidFill>
                  <a:srgbClr val="279D8A"/>
                </a:solidFill>
                <a:latin typeface="Aptos"/>
              </a:rPr>
              <a:t>16.87 </a:t>
            </a:r>
            <a:r>
              <a:rPr lang="en-US" b="1" dirty="0" err="1">
                <a:solidFill>
                  <a:srgbClr val="279D8A"/>
                </a:solidFill>
                <a:latin typeface="Aptos"/>
              </a:rPr>
              <a:t>ms</a:t>
            </a:r>
            <a:endParaRPr b="1" dirty="0">
              <a:solidFill>
                <a:srgbClr val="279D8A"/>
              </a:solidFill>
              <a:latin typeface="Aptos"/>
            </a:endParaRPr>
          </a:p>
        </p:txBody>
      </p:sp>
      <p:sp>
        <p:nvSpPr>
          <p:cNvPr id="47" name="TextBox 46"/>
          <p:cNvSpPr txBox="1"/>
          <p:nvPr/>
        </p:nvSpPr>
        <p:spPr>
          <a:xfrm>
            <a:off x="6135624" y="3236976"/>
            <a:ext cx="1207007" cy="256032"/>
          </a:xfrm>
          <a:prstGeom prst="rect">
            <a:avLst/>
          </a:prstGeom>
          <a:noFill/>
        </p:spPr>
        <p:txBody>
          <a:bodyPr wrap="square" anchor="t">
            <a:spAutoFit/>
          </a:bodyPr>
          <a:lstStyle/>
          <a:p>
            <a:pPr algn="l"/>
            <a:r>
              <a:rPr sz="950" b="0" dirty="0">
                <a:solidFill>
                  <a:srgbClr val="667384"/>
                </a:solidFill>
                <a:latin typeface="Aptos"/>
              </a:rPr>
              <a:t>Avg. turn latency</a:t>
            </a:r>
          </a:p>
        </p:txBody>
      </p:sp>
      <p:sp>
        <p:nvSpPr>
          <p:cNvPr id="48" name="Rounded Rectangle 47"/>
          <p:cNvSpPr/>
          <p:nvPr/>
        </p:nvSpPr>
        <p:spPr>
          <a:xfrm>
            <a:off x="4325112" y="3730752"/>
            <a:ext cx="3182112" cy="841248"/>
          </a:xfrm>
          <a:prstGeom prst="roundRect">
            <a:avLst/>
          </a:prstGeom>
          <a:solidFill>
            <a:srgbClr val="FFFFFF"/>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89704" y="3822191"/>
            <a:ext cx="2852928" cy="310896"/>
          </a:xfrm>
          <a:prstGeom prst="rect">
            <a:avLst/>
          </a:prstGeom>
          <a:noFill/>
        </p:spPr>
        <p:txBody>
          <a:bodyPr wrap="square" anchor="t">
            <a:spAutoFit/>
          </a:bodyPr>
          <a:lstStyle/>
          <a:p>
            <a:pPr algn="l"/>
            <a:r>
              <a:rPr sz="2200" b="1">
                <a:solidFill>
                  <a:srgbClr val="279D8A"/>
                </a:solidFill>
                <a:latin typeface="Aptos"/>
              </a:rPr>
              <a:t>1.74</a:t>
            </a:r>
          </a:p>
        </p:txBody>
      </p:sp>
      <p:sp>
        <p:nvSpPr>
          <p:cNvPr id="50" name="TextBox 49"/>
          <p:cNvSpPr txBox="1"/>
          <p:nvPr/>
        </p:nvSpPr>
        <p:spPr>
          <a:xfrm>
            <a:off x="4489704" y="4178808"/>
            <a:ext cx="2852928" cy="256032"/>
          </a:xfrm>
          <a:prstGeom prst="rect">
            <a:avLst/>
          </a:prstGeom>
          <a:noFill/>
        </p:spPr>
        <p:txBody>
          <a:bodyPr wrap="square" anchor="t">
            <a:spAutoFit/>
          </a:bodyPr>
          <a:lstStyle/>
          <a:p>
            <a:pPr algn="l"/>
            <a:r>
              <a:rPr sz="950" b="0">
                <a:solidFill>
                  <a:srgbClr val="667384"/>
                </a:solidFill>
                <a:latin typeface="Aptos"/>
              </a:rPr>
              <a:t>Mean diagnostic turns</a:t>
            </a:r>
          </a:p>
        </p:txBody>
      </p:sp>
      <p:sp>
        <p:nvSpPr>
          <p:cNvPr id="51" name="Rounded Rectangle 50"/>
          <p:cNvSpPr/>
          <p:nvPr/>
        </p:nvSpPr>
        <p:spPr>
          <a:xfrm>
            <a:off x="4325112" y="4718304"/>
            <a:ext cx="3182112" cy="1152144"/>
          </a:xfrm>
          <a:prstGeom prst="roundRect">
            <a:avLst/>
          </a:prstGeom>
          <a:solidFill>
            <a:srgbClr val="EBF9F6"/>
          </a:solidFill>
          <a:ln w="12700">
            <a:solidFill>
              <a:srgbClr val="CDEBE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498848" y="4882896"/>
            <a:ext cx="2788920" cy="246888"/>
          </a:xfrm>
          <a:prstGeom prst="rect">
            <a:avLst/>
          </a:prstGeom>
          <a:noFill/>
        </p:spPr>
        <p:txBody>
          <a:bodyPr wrap="square" anchor="t">
            <a:spAutoFit/>
          </a:bodyPr>
          <a:lstStyle/>
          <a:p>
            <a:pPr algn="l"/>
            <a:r>
              <a:rPr sz="950" b="1">
                <a:solidFill>
                  <a:srgbClr val="279D8A"/>
                </a:solidFill>
                <a:latin typeface="Aptos"/>
              </a:rPr>
              <a:t>DEMO EVIDENCE</a:t>
            </a:r>
          </a:p>
        </p:txBody>
      </p:sp>
      <p:sp>
        <p:nvSpPr>
          <p:cNvPr id="53" name="TextBox 52"/>
          <p:cNvSpPr txBox="1"/>
          <p:nvPr/>
        </p:nvSpPr>
        <p:spPr>
          <a:xfrm>
            <a:off x="4498848" y="5184648"/>
            <a:ext cx="2788920" cy="502920"/>
          </a:xfrm>
          <a:prstGeom prst="rect">
            <a:avLst/>
          </a:prstGeom>
          <a:noFill/>
        </p:spPr>
        <p:txBody>
          <a:bodyPr wrap="square" anchor="t">
            <a:spAutoFit/>
          </a:bodyPr>
          <a:lstStyle/>
          <a:p>
            <a:pPr algn="l"/>
            <a:r>
              <a:rPr sz="1019" b="1">
                <a:solidFill>
                  <a:srgbClr val="2A3340"/>
                </a:solidFill>
                <a:latin typeface="Aptos"/>
              </a:rPr>
              <a:t>95% match confidence shown for the displayed-brightness demo scenario.</a:t>
            </a:r>
          </a:p>
        </p:txBody>
      </p:sp>
      <p:sp>
        <p:nvSpPr>
          <p:cNvPr id="54" name="Rounded Rectangle 53"/>
          <p:cNvSpPr/>
          <p:nvPr/>
        </p:nvSpPr>
        <p:spPr>
          <a:xfrm>
            <a:off x="7726679" y="1810512"/>
            <a:ext cx="3959352" cy="969264"/>
          </a:xfrm>
          <a:prstGeom prst="roundRect">
            <a:avLst/>
          </a:prstGeom>
          <a:solidFill>
            <a:srgbClr val="FFFFFF"/>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7726679" y="1810512"/>
            <a:ext cx="54864" cy="969264"/>
          </a:xfrm>
          <a:prstGeom prst="rect">
            <a:avLst/>
          </a:prstGeom>
          <a:solidFill>
            <a:srgbClr val="E0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7927848" y="1993392"/>
            <a:ext cx="438912" cy="438912"/>
          </a:xfrm>
          <a:prstGeom prst="ellipse">
            <a:avLst/>
          </a:prstGeom>
          <a:solidFill>
            <a:srgbClr val="E0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927848" y="1993392"/>
            <a:ext cx="438912" cy="438912"/>
          </a:xfrm>
          <a:prstGeom prst="rect">
            <a:avLst/>
          </a:prstGeom>
          <a:noFill/>
        </p:spPr>
        <p:txBody>
          <a:bodyPr wrap="square" anchor="ctr">
            <a:spAutoFit/>
          </a:bodyPr>
          <a:lstStyle/>
          <a:p>
            <a:pPr algn="ctr"/>
            <a:r>
              <a:rPr sz="1600" b="1">
                <a:solidFill>
                  <a:srgbClr val="FFFFFF"/>
                </a:solidFill>
                <a:latin typeface="Aptos"/>
              </a:rPr>
              <a:t>↗</a:t>
            </a:r>
          </a:p>
        </p:txBody>
      </p:sp>
      <p:sp>
        <p:nvSpPr>
          <p:cNvPr id="58" name="TextBox 57"/>
          <p:cNvSpPr txBox="1"/>
          <p:nvPr/>
        </p:nvSpPr>
        <p:spPr>
          <a:xfrm>
            <a:off x="8366760" y="1947328"/>
            <a:ext cx="2999232" cy="320040"/>
          </a:xfrm>
          <a:prstGeom prst="rect">
            <a:avLst/>
          </a:prstGeom>
          <a:noFill/>
        </p:spPr>
        <p:txBody>
          <a:bodyPr wrap="square" anchor="t">
            <a:spAutoFit/>
          </a:bodyPr>
          <a:lstStyle/>
          <a:p>
            <a:pPr algn="l"/>
            <a:r>
              <a:rPr sz="1500" b="1" dirty="0">
                <a:solidFill>
                  <a:srgbClr val="142B4A"/>
                </a:solidFill>
                <a:latin typeface="Aptos"/>
              </a:rPr>
              <a:t>Simulated device navigation</a:t>
            </a:r>
          </a:p>
        </p:txBody>
      </p:sp>
      <p:sp>
        <p:nvSpPr>
          <p:cNvPr id="59" name="TextBox 58"/>
          <p:cNvSpPr txBox="1"/>
          <p:nvPr/>
        </p:nvSpPr>
        <p:spPr>
          <a:xfrm>
            <a:off x="8476488" y="2226220"/>
            <a:ext cx="2999232" cy="347472"/>
          </a:xfrm>
          <a:prstGeom prst="rect">
            <a:avLst/>
          </a:prstGeom>
          <a:noFill/>
        </p:spPr>
        <p:txBody>
          <a:bodyPr wrap="square" anchor="t">
            <a:spAutoFit/>
          </a:bodyPr>
          <a:lstStyle/>
          <a:p>
            <a:pPr algn="l"/>
            <a:r>
              <a:rPr sz="1050" b="0" dirty="0">
                <a:solidFill>
                  <a:srgbClr val="667384"/>
                </a:solidFill>
                <a:latin typeface="Aptos"/>
              </a:rPr>
              <a:t>The current Settings destinations use prototype:// links and a One UI-inspired simulator.</a:t>
            </a:r>
          </a:p>
        </p:txBody>
      </p:sp>
      <p:sp>
        <p:nvSpPr>
          <p:cNvPr id="60" name="Rounded Rectangle 59"/>
          <p:cNvSpPr/>
          <p:nvPr/>
        </p:nvSpPr>
        <p:spPr>
          <a:xfrm>
            <a:off x="7726679" y="2889504"/>
            <a:ext cx="3959352" cy="969264"/>
          </a:xfrm>
          <a:prstGeom prst="roundRect">
            <a:avLst/>
          </a:prstGeom>
          <a:solidFill>
            <a:srgbClr val="FFFFFF"/>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7726679" y="2889504"/>
            <a:ext cx="54864" cy="969264"/>
          </a:xfrm>
          <a:prstGeom prst="rect">
            <a:avLst/>
          </a:prstGeom>
          <a:solidFill>
            <a:srgbClr val="E0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Oval 61"/>
          <p:cNvSpPr/>
          <p:nvPr/>
        </p:nvSpPr>
        <p:spPr>
          <a:xfrm>
            <a:off x="7927848" y="3072384"/>
            <a:ext cx="438912" cy="438912"/>
          </a:xfrm>
          <a:prstGeom prst="ellipse">
            <a:avLst/>
          </a:prstGeom>
          <a:solidFill>
            <a:srgbClr val="E0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872983" y="3122563"/>
            <a:ext cx="493777" cy="338554"/>
          </a:xfrm>
          <a:prstGeom prst="rect">
            <a:avLst/>
          </a:prstGeom>
          <a:noFill/>
        </p:spPr>
        <p:txBody>
          <a:bodyPr wrap="square" anchor="ctr">
            <a:spAutoFit/>
          </a:bodyPr>
          <a:lstStyle/>
          <a:p>
            <a:pPr algn="ctr"/>
            <a:r>
              <a:rPr sz="1600" b="1" dirty="0">
                <a:solidFill>
                  <a:srgbClr val="FFFFFF"/>
                </a:solidFill>
                <a:latin typeface="Aptos"/>
              </a:rPr>
              <a:t>DB</a:t>
            </a:r>
          </a:p>
        </p:txBody>
      </p:sp>
      <p:sp>
        <p:nvSpPr>
          <p:cNvPr id="64" name="TextBox 63"/>
          <p:cNvSpPr txBox="1"/>
          <p:nvPr/>
        </p:nvSpPr>
        <p:spPr>
          <a:xfrm>
            <a:off x="8366760" y="2907497"/>
            <a:ext cx="2999232" cy="320040"/>
          </a:xfrm>
          <a:prstGeom prst="rect">
            <a:avLst/>
          </a:prstGeom>
          <a:noFill/>
        </p:spPr>
        <p:txBody>
          <a:bodyPr wrap="square" anchor="t">
            <a:spAutoFit/>
          </a:bodyPr>
          <a:lstStyle/>
          <a:p>
            <a:pPr algn="l"/>
            <a:r>
              <a:rPr sz="1500" b="1" dirty="0">
                <a:solidFill>
                  <a:srgbClr val="142B4A"/>
                </a:solidFill>
                <a:latin typeface="Aptos"/>
              </a:rPr>
              <a:t>Development-scale knowledge base</a:t>
            </a:r>
          </a:p>
        </p:txBody>
      </p:sp>
      <p:sp>
        <p:nvSpPr>
          <p:cNvPr id="65" name="TextBox 64"/>
          <p:cNvSpPr txBox="1"/>
          <p:nvPr/>
        </p:nvSpPr>
        <p:spPr>
          <a:xfrm>
            <a:off x="8421625" y="3332988"/>
            <a:ext cx="2999232" cy="347472"/>
          </a:xfrm>
          <a:prstGeom prst="rect">
            <a:avLst/>
          </a:prstGeom>
          <a:noFill/>
        </p:spPr>
        <p:txBody>
          <a:bodyPr wrap="square" anchor="t">
            <a:spAutoFit/>
          </a:bodyPr>
          <a:lstStyle/>
          <a:p>
            <a:pPr algn="l"/>
            <a:r>
              <a:rPr sz="1050" b="0" dirty="0">
                <a:solidFill>
                  <a:srgbClr val="667384"/>
                </a:solidFill>
                <a:latin typeface="Aptos"/>
              </a:rPr>
              <a:t>Current prototype contains 32 troubleshooting records across Battery, Display, Camera and Performance.</a:t>
            </a:r>
          </a:p>
        </p:txBody>
      </p:sp>
      <p:sp>
        <p:nvSpPr>
          <p:cNvPr id="66" name="Rounded Rectangle 65"/>
          <p:cNvSpPr/>
          <p:nvPr/>
        </p:nvSpPr>
        <p:spPr>
          <a:xfrm>
            <a:off x="7726679" y="3968496"/>
            <a:ext cx="3959352" cy="969264"/>
          </a:xfrm>
          <a:prstGeom prst="roundRect">
            <a:avLst/>
          </a:prstGeom>
          <a:solidFill>
            <a:srgbClr val="FFFFFF"/>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7726679" y="3968496"/>
            <a:ext cx="54864" cy="969264"/>
          </a:xfrm>
          <a:prstGeom prst="rect">
            <a:avLst/>
          </a:prstGeom>
          <a:solidFill>
            <a:srgbClr val="E0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p:cNvSpPr/>
          <p:nvPr/>
        </p:nvSpPr>
        <p:spPr>
          <a:xfrm>
            <a:off x="7927848" y="4151376"/>
            <a:ext cx="438912" cy="438912"/>
          </a:xfrm>
          <a:prstGeom prst="ellipse">
            <a:avLst/>
          </a:prstGeom>
          <a:solidFill>
            <a:srgbClr val="E0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927848" y="4151376"/>
            <a:ext cx="438912" cy="438912"/>
          </a:xfrm>
          <a:prstGeom prst="rect">
            <a:avLst/>
          </a:prstGeom>
          <a:noFill/>
        </p:spPr>
        <p:txBody>
          <a:bodyPr wrap="square" anchor="ctr">
            <a:spAutoFit/>
          </a:bodyPr>
          <a:lstStyle/>
          <a:p>
            <a:pPr algn="ctr"/>
            <a:r>
              <a:rPr sz="1600" b="1">
                <a:solidFill>
                  <a:srgbClr val="FFFFFF"/>
                </a:solidFill>
                <a:latin typeface="Aptos"/>
              </a:rPr>
              <a:t>!</a:t>
            </a:r>
          </a:p>
        </p:txBody>
      </p:sp>
      <p:sp>
        <p:nvSpPr>
          <p:cNvPr id="70" name="TextBox 69"/>
          <p:cNvSpPr txBox="1"/>
          <p:nvPr/>
        </p:nvSpPr>
        <p:spPr>
          <a:xfrm>
            <a:off x="8465820" y="4057085"/>
            <a:ext cx="2999232" cy="320040"/>
          </a:xfrm>
          <a:prstGeom prst="rect">
            <a:avLst/>
          </a:prstGeom>
          <a:noFill/>
        </p:spPr>
        <p:txBody>
          <a:bodyPr wrap="square" anchor="t">
            <a:spAutoFit/>
          </a:bodyPr>
          <a:lstStyle/>
          <a:p>
            <a:pPr algn="l"/>
            <a:r>
              <a:rPr sz="1500" b="1" dirty="0">
                <a:solidFill>
                  <a:srgbClr val="142B4A"/>
                </a:solidFill>
                <a:latin typeface="Aptos"/>
              </a:rPr>
              <a:t>No physical hardware checks</a:t>
            </a:r>
          </a:p>
        </p:txBody>
      </p:sp>
      <p:sp>
        <p:nvSpPr>
          <p:cNvPr id="71" name="TextBox 70"/>
          <p:cNvSpPr txBox="1"/>
          <p:nvPr/>
        </p:nvSpPr>
        <p:spPr>
          <a:xfrm>
            <a:off x="8476488" y="4462272"/>
            <a:ext cx="2999232" cy="347472"/>
          </a:xfrm>
          <a:prstGeom prst="rect">
            <a:avLst/>
          </a:prstGeom>
          <a:noFill/>
        </p:spPr>
        <p:txBody>
          <a:bodyPr wrap="square" anchor="t">
            <a:spAutoFit/>
          </a:bodyPr>
          <a:lstStyle/>
          <a:p>
            <a:pPr algn="l"/>
            <a:r>
              <a:rPr sz="1050" b="0">
                <a:solidFill>
                  <a:srgbClr val="667384"/>
                </a:solidFill>
                <a:latin typeface="Aptos"/>
              </a:rPr>
              <a:t>It does not yet read live device telemetry or verify physical hardware faults.</a:t>
            </a:r>
          </a:p>
        </p:txBody>
      </p:sp>
      <p:sp>
        <p:nvSpPr>
          <p:cNvPr id="72" name="Rounded Rectangle 71"/>
          <p:cNvSpPr/>
          <p:nvPr/>
        </p:nvSpPr>
        <p:spPr>
          <a:xfrm>
            <a:off x="7726679" y="5047488"/>
            <a:ext cx="3959352" cy="822960"/>
          </a:xfrm>
          <a:prstGeom prst="roundRect">
            <a:avLst/>
          </a:prstGeom>
          <a:solidFill>
            <a:srgbClr val="FFFFFF"/>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7726679" y="5047488"/>
            <a:ext cx="54864" cy="822960"/>
          </a:xfrm>
          <a:prstGeom prst="rect">
            <a:avLst/>
          </a:prstGeom>
          <a:solidFill>
            <a:srgbClr val="E0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Oval 73"/>
          <p:cNvSpPr/>
          <p:nvPr/>
        </p:nvSpPr>
        <p:spPr>
          <a:xfrm>
            <a:off x="7927848" y="5230368"/>
            <a:ext cx="438912" cy="438912"/>
          </a:xfrm>
          <a:prstGeom prst="ellipse">
            <a:avLst/>
          </a:prstGeom>
          <a:solidFill>
            <a:srgbClr val="E05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7927848" y="5230368"/>
            <a:ext cx="438912" cy="438912"/>
          </a:xfrm>
          <a:prstGeom prst="rect">
            <a:avLst/>
          </a:prstGeom>
          <a:noFill/>
        </p:spPr>
        <p:txBody>
          <a:bodyPr wrap="square" anchor="ctr">
            <a:spAutoFit/>
          </a:bodyPr>
          <a:lstStyle/>
          <a:p>
            <a:pPr algn="ctr"/>
            <a:r>
              <a:rPr sz="1600" b="1">
                <a:solidFill>
                  <a:srgbClr val="FFFFFF"/>
                </a:solidFill>
                <a:latin typeface="Aptos"/>
              </a:rPr>
              <a:t>→</a:t>
            </a:r>
          </a:p>
        </p:txBody>
      </p:sp>
      <p:sp>
        <p:nvSpPr>
          <p:cNvPr id="76" name="TextBox 75"/>
          <p:cNvSpPr txBox="1"/>
          <p:nvPr/>
        </p:nvSpPr>
        <p:spPr>
          <a:xfrm>
            <a:off x="8476488" y="5193792"/>
            <a:ext cx="2999232" cy="320040"/>
          </a:xfrm>
          <a:prstGeom prst="rect">
            <a:avLst/>
          </a:prstGeom>
          <a:noFill/>
        </p:spPr>
        <p:txBody>
          <a:bodyPr wrap="square" anchor="t">
            <a:spAutoFit/>
          </a:bodyPr>
          <a:lstStyle/>
          <a:p>
            <a:pPr algn="l"/>
            <a:r>
              <a:rPr sz="1500" b="1">
                <a:solidFill>
                  <a:srgbClr val="142B4A"/>
                </a:solidFill>
                <a:latin typeface="Aptos"/>
              </a:rPr>
              <a:t>Production integration pending</a:t>
            </a:r>
          </a:p>
        </p:txBody>
      </p:sp>
      <p:sp>
        <p:nvSpPr>
          <p:cNvPr id="77" name="TextBox 76"/>
          <p:cNvSpPr txBox="1"/>
          <p:nvPr/>
        </p:nvSpPr>
        <p:spPr>
          <a:xfrm>
            <a:off x="8476488" y="5440680"/>
            <a:ext cx="2999232" cy="201167"/>
          </a:xfrm>
          <a:prstGeom prst="rect">
            <a:avLst/>
          </a:prstGeom>
          <a:noFill/>
        </p:spPr>
        <p:txBody>
          <a:bodyPr wrap="square" anchor="t">
            <a:spAutoFit/>
          </a:bodyPr>
          <a:lstStyle/>
          <a:p>
            <a:pPr algn="l"/>
            <a:r>
              <a:rPr sz="1050" b="0" dirty="0">
                <a:solidFill>
                  <a:srgbClr val="667384"/>
                </a:solidFill>
                <a:latin typeface="Aptos"/>
              </a:rPr>
              <a:t>Samsung internal systems, production </a:t>
            </a:r>
            <a:r>
              <a:rPr sz="1050" b="0" dirty="0" err="1">
                <a:solidFill>
                  <a:srgbClr val="667384"/>
                </a:solidFill>
                <a:latin typeface="Aptos"/>
              </a:rPr>
              <a:t>deeplinks</a:t>
            </a:r>
            <a:r>
              <a:rPr sz="1050" b="0" dirty="0">
                <a:solidFill>
                  <a:srgbClr val="667384"/>
                </a:solidFill>
                <a:latin typeface="Aptos"/>
              </a:rPr>
              <a:t> and real escalation channels are future work.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5176" y="96012"/>
            <a:ext cx="10607040" cy="438912"/>
          </a:xfrm>
          <a:prstGeom prst="rect">
            <a:avLst/>
          </a:prstGeom>
          <a:noFill/>
        </p:spPr>
        <p:txBody>
          <a:bodyPr wrap="square" lIns="25400" tIns="12700" rIns="25400" bIns="12700">
            <a:spAutoFit/>
          </a:bodyPr>
          <a:lstStyle/>
          <a:p>
            <a:pPr algn="l">
              <a:defRPr sz="2700" b="1">
                <a:solidFill>
                  <a:srgbClr val="141F35"/>
                </a:solidFill>
                <a:latin typeface="Aptos"/>
              </a:defRPr>
            </a:pPr>
            <a:r>
              <a:rPr dirty="0">
                <a:solidFill>
                  <a:srgbClr val="7030A0"/>
                </a:solidFill>
              </a:rPr>
              <a:t>What’s next — engineering roadmap</a:t>
            </a:r>
          </a:p>
        </p:txBody>
      </p:sp>
      <p:sp>
        <p:nvSpPr>
          <p:cNvPr id="5" name="Rounded Rectangle 4"/>
          <p:cNvSpPr/>
          <p:nvPr/>
        </p:nvSpPr>
        <p:spPr>
          <a:xfrm>
            <a:off x="502920" y="1078992"/>
            <a:ext cx="1755648" cy="658368"/>
          </a:xfrm>
          <a:prstGeom prst="roundRect">
            <a:avLst/>
          </a:prstGeom>
          <a:solidFill>
            <a:srgbClr val="FFFFFF"/>
          </a:solidFill>
          <a:ln w="12700">
            <a:solidFill>
              <a:srgbClr val="24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161288"/>
            <a:ext cx="1609344" cy="182880"/>
          </a:xfrm>
          <a:prstGeom prst="rect">
            <a:avLst/>
          </a:prstGeom>
          <a:noFill/>
        </p:spPr>
        <p:txBody>
          <a:bodyPr wrap="square" lIns="25400" tIns="12700" rIns="25400" bIns="12700">
            <a:spAutoFit/>
          </a:bodyPr>
          <a:lstStyle/>
          <a:p>
            <a:pPr algn="l">
              <a:defRPr sz="800" b="1">
                <a:solidFill>
                  <a:srgbClr val="24AABE"/>
                </a:solidFill>
                <a:latin typeface="Aptos"/>
              </a:defRPr>
            </a:pPr>
            <a:r>
              <a:t>INGEST</a:t>
            </a:r>
          </a:p>
        </p:txBody>
      </p:sp>
      <p:sp>
        <p:nvSpPr>
          <p:cNvPr id="7" name="TextBox 6"/>
          <p:cNvSpPr txBox="1"/>
          <p:nvPr/>
        </p:nvSpPr>
        <p:spPr>
          <a:xfrm>
            <a:off x="576072" y="1362456"/>
            <a:ext cx="1609344" cy="219456"/>
          </a:xfrm>
          <a:prstGeom prst="rect">
            <a:avLst/>
          </a:prstGeom>
          <a:noFill/>
        </p:spPr>
        <p:txBody>
          <a:bodyPr wrap="square" lIns="25400" tIns="12700" rIns="25400" bIns="12700">
            <a:spAutoFit/>
          </a:bodyPr>
          <a:lstStyle/>
          <a:p>
            <a:pPr algn="l">
              <a:defRPr sz="830" b="0">
                <a:solidFill>
                  <a:srgbClr val="5C697D"/>
                </a:solidFill>
                <a:latin typeface="Aptos"/>
              </a:defRPr>
            </a:pPr>
            <a:r>
              <a:t>Scenario + Settings data</a:t>
            </a:r>
          </a:p>
        </p:txBody>
      </p:sp>
      <p:sp>
        <p:nvSpPr>
          <p:cNvPr id="8" name="Rounded Rectangle 7"/>
          <p:cNvSpPr/>
          <p:nvPr/>
        </p:nvSpPr>
        <p:spPr>
          <a:xfrm>
            <a:off x="2441448" y="1078992"/>
            <a:ext cx="1755648" cy="658368"/>
          </a:xfrm>
          <a:prstGeom prst="roundRect">
            <a:avLst/>
          </a:prstGeom>
          <a:solidFill>
            <a:srgbClr val="FFFFFF"/>
          </a:solidFill>
          <a:ln w="12700">
            <a:solidFill>
              <a:srgbClr val="3E7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14600" y="1161288"/>
            <a:ext cx="1609344" cy="182880"/>
          </a:xfrm>
          <a:prstGeom prst="rect">
            <a:avLst/>
          </a:prstGeom>
          <a:noFill/>
        </p:spPr>
        <p:txBody>
          <a:bodyPr wrap="square" lIns="25400" tIns="12700" rIns="25400" bIns="12700">
            <a:spAutoFit/>
          </a:bodyPr>
          <a:lstStyle/>
          <a:p>
            <a:pPr algn="l">
              <a:defRPr sz="800" b="1">
                <a:solidFill>
                  <a:srgbClr val="3E70D2"/>
                </a:solidFill>
                <a:latin typeface="Aptos"/>
              </a:defRPr>
            </a:pPr>
            <a:r>
              <a:t>INDEX</a:t>
            </a:r>
          </a:p>
        </p:txBody>
      </p:sp>
      <p:sp>
        <p:nvSpPr>
          <p:cNvPr id="10" name="TextBox 9"/>
          <p:cNvSpPr txBox="1"/>
          <p:nvPr/>
        </p:nvSpPr>
        <p:spPr>
          <a:xfrm>
            <a:off x="2514600" y="1362456"/>
            <a:ext cx="1609344" cy="219456"/>
          </a:xfrm>
          <a:prstGeom prst="rect">
            <a:avLst/>
          </a:prstGeom>
          <a:noFill/>
        </p:spPr>
        <p:txBody>
          <a:bodyPr wrap="square" lIns="25400" tIns="12700" rIns="25400" bIns="12700">
            <a:spAutoFit/>
          </a:bodyPr>
          <a:lstStyle/>
          <a:p>
            <a:pPr algn="l">
              <a:defRPr sz="830" b="0">
                <a:solidFill>
                  <a:srgbClr val="5C697D"/>
                </a:solidFill>
                <a:latin typeface="Aptos"/>
              </a:defRPr>
            </a:pPr>
            <a:r>
              <a:t>Sparse + semantic</a:t>
            </a:r>
          </a:p>
        </p:txBody>
      </p:sp>
      <p:sp>
        <p:nvSpPr>
          <p:cNvPr id="11" name="Rounded Rectangle 10"/>
          <p:cNvSpPr/>
          <p:nvPr/>
        </p:nvSpPr>
        <p:spPr>
          <a:xfrm>
            <a:off x="4379976" y="1078992"/>
            <a:ext cx="1755648" cy="658368"/>
          </a:xfrm>
          <a:prstGeom prst="roundRect">
            <a:avLst/>
          </a:prstGeom>
          <a:solidFill>
            <a:srgbClr val="FFFFFF"/>
          </a:solidFill>
          <a:ln w="12700">
            <a:solidFill>
              <a:srgbClr val="845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53128" y="1161288"/>
            <a:ext cx="1609344" cy="182880"/>
          </a:xfrm>
          <a:prstGeom prst="rect">
            <a:avLst/>
          </a:prstGeom>
          <a:noFill/>
        </p:spPr>
        <p:txBody>
          <a:bodyPr wrap="square" lIns="25400" tIns="12700" rIns="25400" bIns="12700">
            <a:spAutoFit/>
          </a:bodyPr>
          <a:lstStyle/>
          <a:p>
            <a:pPr algn="l">
              <a:defRPr sz="800" b="1">
                <a:solidFill>
                  <a:srgbClr val="845CCD"/>
                </a:solidFill>
                <a:latin typeface="Aptos"/>
              </a:defRPr>
            </a:pPr>
            <a:r>
              <a:t>ENRICH</a:t>
            </a:r>
          </a:p>
        </p:txBody>
      </p:sp>
      <p:sp>
        <p:nvSpPr>
          <p:cNvPr id="13" name="TextBox 12"/>
          <p:cNvSpPr txBox="1"/>
          <p:nvPr/>
        </p:nvSpPr>
        <p:spPr>
          <a:xfrm>
            <a:off x="4453128" y="1362456"/>
            <a:ext cx="1609344" cy="219456"/>
          </a:xfrm>
          <a:prstGeom prst="rect">
            <a:avLst/>
          </a:prstGeom>
          <a:noFill/>
        </p:spPr>
        <p:txBody>
          <a:bodyPr wrap="square" lIns="25400" tIns="12700" rIns="25400" bIns="12700">
            <a:spAutoFit/>
          </a:bodyPr>
          <a:lstStyle/>
          <a:p>
            <a:pPr algn="l">
              <a:defRPr sz="830" b="0">
                <a:solidFill>
                  <a:srgbClr val="5C697D"/>
                </a:solidFill>
                <a:latin typeface="Aptos"/>
              </a:defRPr>
            </a:pPr>
            <a:r>
              <a:t>Normalize query</a:t>
            </a:r>
          </a:p>
        </p:txBody>
      </p:sp>
      <p:sp>
        <p:nvSpPr>
          <p:cNvPr id="14" name="Rounded Rectangle 13"/>
          <p:cNvSpPr/>
          <p:nvPr/>
        </p:nvSpPr>
        <p:spPr>
          <a:xfrm>
            <a:off x="6318504" y="1078992"/>
            <a:ext cx="1755648" cy="658368"/>
          </a:xfrm>
          <a:prstGeom prst="roundRect">
            <a:avLst/>
          </a:prstGeom>
          <a:solidFill>
            <a:srgbClr val="FFFFFF"/>
          </a:solidFill>
          <a:ln w="12700">
            <a:solidFill>
              <a:srgbClr val="3CA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91656" y="1161288"/>
            <a:ext cx="1609344" cy="182880"/>
          </a:xfrm>
          <a:prstGeom prst="rect">
            <a:avLst/>
          </a:prstGeom>
          <a:noFill/>
        </p:spPr>
        <p:txBody>
          <a:bodyPr wrap="square" lIns="25400" tIns="12700" rIns="25400" bIns="12700">
            <a:spAutoFit/>
          </a:bodyPr>
          <a:lstStyle/>
          <a:p>
            <a:pPr algn="l">
              <a:defRPr sz="800" b="1">
                <a:solidFill>
                  <a:srgbClr val="3CA070"/>
                </a:solidFill>
                <a:latin typeface="Aptos"/>
              </a:defRPr>
            </a:pPr>
            <a:r>
              <a:t>RETRIEVE</a:t>
            </a:r>
          </a:p>
        </p:txBody>
      </p:sp>
      <p:sp>
        <p:nvSpPr>
          <p:cNvPr id="16" name="TextBox 15"/>
          <p:cNvSpPr txBox="1"/>
          <p:nvPr/>
        </p:nvSpPr>
        <p:spPr>
          <a:xfrm>
            <a:off x="6391656" y="1362456"/>
            <a:ext cx="1609344" cy="219456"/>
          </a:xfrm>
          <a:prstGeom prst="rect">
            <a:avLst/>
          </a:prstGeom>
          <a:noFill/>
        </p:spPr>
        <p:txBody>
          <a:bodyPr wrap="square" lIns="25400" tIns="12700" rIns="25400" bIns="12700">
            <a:spAutoFit/>
          </a:bodyPr>
          <a:lstStyle/>
          <a:p>
            <a:pPr algn="l">
              <a:defRPr sz="830" b="0">
                <a:solidFill>
                  <a:srgbClr val="5C697D"/>
                </a:solidFill>
                <a:latin typeface="Aptos"/>
              </a:defRPr>
            </a:pPr>
            <a:r>
              <a:t>Top candidates</a:t>
            </a:r>
          </a:p>
        </p:txBody>
      </p:sp>
      <p:sp>
        <p:nvSpPr>
          <p:cNvPr id="17" name="Rounded Rectangle 16"/>
          <p:cNvSpPr/>
          <p:nvPr/>
        </p:nvSpPr>
        <p:spPr>
          <a:xfrm>
            <a:off x="8257032" y="1078992"/>
            <a:ext cx="1755648" cy="658368"/>
          </a:xfrm>
          <a:prstGeom prst="roundRect">
            <a:avLst/>
          </a:prstGeom>
          <a:solidFill>
            <a:srgbClr val="FFFFFF"/>
          </a:solidFill>
          <a:ln w="12700">
            <a:solidFill>
              <a:srgbClr val="E089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30184" y="1161288"/>
            <a:ext cx="1609344" cy="182880"/>
          </a:xfrm>
          <a:prstGeom prst="rect">
            <a:avLst/>
          </a:prstGeom>
          <a:noFill/>
        </p:spPr>
        <p:txBody>
          <a:bodyPr wrap="square" lIns="25400" tIns="12700" rIns="25400" bIns="12700">
            <a:spAutoFit/>
          </a:bodyPr>
          <a:lstStyle/>
          <a:p>
            <a:pPr algn="l">
              <a:defRPr sz="800" b="1">
                <a:solidFill>
                  <a:srgbClr val="E08932"/>
                </a:solidFill>
                <a:latin typeface="Aptos"/>
              </a:defRPr>
            </a:pPr>
            <a:r>
              <a:t>GENERATE</a:t>
            </a:r>
          </a:p>
        </p:txBody>
      </p:sp>
      <p:sp>
        <p:nvSpPr>
          <p:cNvPr id="19" name="TextBox 18"/>
          <p:cNvSpPr txBox="1"/>
          <p:nvPr/>
        </p:nvSpPr>
        <p:spPr>
          <a:xfrm>
            <a:off x="8330184" y="1362456"/>
            <a:ext cx="1609344" cy="219456"/>
          </a:xfrm>
          <a:prstGeom prst="rect">
            <a:avLst/>
          </a:prstGeom>
          <a:noFill/>
        </p:spPr>
        <p:txBody>
          <a:bodyPr wrap="square" lIns="25400" tIns="12700" rIns="25400" bIns="12700">
            <a:spAutoFit/>
          </a:bodyPr>
          <a:lstStyle/>
          <a:p>
            <a:pPr algn="l">
              <a:defRPr sz="830" b="0">
                <a:solidFill>
                  <a:srgbClr val="5C697D"/>
                </a:solidFill>
                <a:latin typeface="Aptos"/>
              </a:defRPr>
            </a:pPr>
            <a:r>
              <a:t>Structured JSON</a:t>
            </a:r>
          </a:p>
        </p:txBody>
      </p:sp>
      <p:sp>
        <p:nvSpPr>
          <p:cNvPr id="20" name="Rounded Rectangle 19"/>
          <p:cNvSpPr/>
          <p:nvPr/>
        </p:nvSpPr>
        <p:spPr>
          <a:xfrm>
            <a:off x="10195560" y="1078992"/>
            <a:ext cx="1755648" cy="658368"/>
          </a:xfrm>
          <a:prstGeom prst="roundRect">
            <a:avLst/>
          </a:prstGeom>
          <a:solidFill>
            <a:srgbClr val="FFFFFF"/>
          </a:solidFill>
          <a:ln w="12700">
            <a:solidFill>
              <a:srgbClr val="24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268712" y="1161288"/>
            <a:ext cx="1609344" cy="182880"/>
          </a:xfrm>
          <a:prstGeom prst="rect">
            <a:avLst/>
          </a:prstGeom>
          <a:noFill/>
        </p:spPr>
        <p:txBody>
          <a:bodyPr wrap="square" lIns="25400" tIns="12700" rIns="25400" bIns="12700">
            <a:spAutoFit/>
          </a:bodyPr>
          <a:lstStyle/>
          <a:p>
            <a:pPr algn="l">
              <a:defRPr sz="800" b="1">
                <a:solidFill>
                  <a:srgbClr val="24AABE"/>
                </a:solidFill>
                <a:latin typeface="Aptos"/>
              </a:defRPr>
            </a:pPr>
            <a:r>
              <a:t>VERIFY</a:t>
            </a:r>
          </a:p>
        </p:txBody>
      </p:sp>
      <p:sp>
        <p:nvSpPr>
          <p:cNvPr id="22" name="TextBox 21"/>
          <p:cNvSpPr txBox="1"/>
          <p:nvPr/>
        </p:nvSpPr>
        <p:spPr>
          <a:xfrm>
            <a:off x="10268712" y="1362456"/>
            <a:ext cx="1609344" cy="219456"/>
          </a:xfrm>
          <a:prstGeom prst="rect">
            <a:avLst/>
          </a:prstGeom>
          <a:noFill/>
        </p:spPr>
        <p:txBody>
          <a:bodyPr wrap="square" lIns="25400" tIns="12700" rIns="25400" bIns="12700">
            <a:spAutoFit/>
          </a:bodyPr>
          <a:lstStyle/>
          <a:p>
            <a:pPr algn="l">
              <a:defRPr sz="830" b="0">
                <a:solidFill>
                  <a:srgbClr val="5C697D"/>
                </a:solidFill>
                <a:latin typeface="Aptos"/>
              </a:defRPr>
            </a:pPr>
            <a:r>
              <a:t>Outcome feedback</a:t>
            </a:r>
          </a:p>
        </p:txBody>
      </p:sp>
      <p:sp>
        <p:nvSpPr>
          <p:cNvPr id="23" name="Rounded Rectangle 22"/>
          <p:cNvSpPr/>
          <p:nvPr/>
        </p:nvSpPr>
        <p:spPr>
          <a:xfrm>
            <a:off x="502920" y="1938528"/>
            <a:ext cx="3493008" cy="1353312"/>
          </a:xfrm>
          <a:prstGeom prst="roundRect">
            <a:avLst/>
          </a:prstGeom>
          <a:solidFill>
            <a:srgbClr val="FFFFFF"/>
          </a:solidFill>
          <a:ln w="12700">
            <a:solidFill>
              <a:srgbClr val="DE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 y="2048256"/>
            <a:ext cx="320040" cy="274320"/>
          </a:xfrm>
          <a:prstGeom prst="rect">
            <a:avLst/>
          </a:prstGeom>
          <a:noFill/>
        </p:spPr>
        <p:txBody>
          <a:bodyPr wrap="square" lIns="25400" tIns="12700" rIns="25400" bIns="12700">
            <a:spAutoFit/>
          </a:bodyPr>
          <a:lstStyle/>
          <a:p>
            <a:pPr algn="l">
              <a:defRPr sz="1100" b="1">
                <a:solidFill>
                  <a:srgbClr val="24AABE"/>
                </a:solidFill>
                <a:latin typeface="Aptos"/>
              </a:defRPr>
            </a:pPr>
            <a:r>
              <a:t>01</a:t>
            </a:r>
          </a:p>
        </p:txBody>
      </p:sp>
      <p:sp>
        <p:nvSpPr>
          <p:cNvPr id="25" name="TextBox 24"/>
          <p:cNvSpPr txBox="1"/>
          <p:nvPr/>
        </p:nvSpPr>
        <p:spPr>
          <a:xfrm>
            <a:off x="1033271" y="2029968"/>
            <a:ext cx="2697480" cy="256032"/>
          </a:xfrm>
          <a:prstGeom prst="rect">
            <a:avLst/>
          </a:prstGeom>
          <a:noFill/>
        </p:spPr>
        <p:txBody>
          <a:bodyPr wrap="square" lIns="25400" tIns="12700" rIns="25400" bIns="12700">
            <a:spAutoFit/>
          </a:bodyPr>
          <a:lstStyle/>
          <a:p>
            <a:pPr algn="l">
              <a:defRPr sz="1200" b="1">
                <a:solidFill>
                  <a:srgbClr val="141F35"/>
                </a:solidFill>
                <a:latin typeface="Aptos"/>
              </a:defRPr>
            </a:pPr>
            <a:r>
              <a:t>Knowledge representation</a:t>
            </a:r>
          </a:p>
        </p:txBody>
      </p:sp>
      <p:sp>
        <p:nvSpPr>
          <p:cNvPr id="26" name="TextBox 25"/>
          <p:cNvSpPr txBox="1"/>
          <p:nvPr/>
        </p:nvSpPr>
        <p:spPr>
          <a:xfrm>
            <a:off x="1033271" y="2331720"/>
            <a:ext cx="2743200" cy="228600"/>
          </a:xfrm>
          <a:prstGeom prst="rect">
            <a:avLst/>
          </a:prstGeom>
          <a:noFill/>
        </p:spPr>
        <p:txBody>
          <a:bodyPr wrap="square" lIns="25400" tIns="12700" rIns="25400" bIns="12700">
            <a:spAutoFit/>
          </a:bodyPr>
          <a:lstStyle/>
          <a:p>
            <a:pPr algn="l">
              <a:defRPr sz="980" b="1">
                <a:solidFill>
                  <a:srgbClr val="24AABE"/>
                </a:solidFill>
                <a:latin typeface="Aptos"/>
              </a:defRPr>
            </a:pPr>
            <a:r>
              <a:t>10k+ scenario target</a:t>
            </a:r>
          </a:p>
        </p:txBody>
      </p:sp>
      <p:sp>
        <p:nvSpPr>
          <p:cNvPr id="27" name="TextBox 26"/>
          <p:cNvSpPr txBox="1"/>
          <p:nvPr/>
        </p:nvSpPr>
        <p:spPr>
          <a:xfrm>
            <a:off x="640080" y="2642616"/>
            <a:ext cx="3182112" cy="438912"/>
          </a:xfrm>
          <a:prstGeom prst="rect">
            <a:avLst/>
          </a:prstGeom>
          <a:noFill/>
        </p:spPr>
        <p:txBody>
          <a:bodyPr wrap="square" lIns="25400" tIns="12700" rIns="25400" bIns="12700">
            <a:spAutoFit/>
          </a:bodyPr>
          <a:lstStyle/>
          <a:p>
            <a:pPr algn="l">
              <a:defRPr sz="819" b="0">
                <a:solidFill>
                  <a:srgbClr val="5C697D"/>
                </a:solidFill>
                <a:latin typeface="Aptos"/>
              </a:defRPr>
            </a:pPr>
            <a:r>
              <a:t>Store each scenario as symptom → diagnosis → ordered actions → Settings deeplink. Version mappings so fixes remain auditable.</a:t>
            </a:r>
          </a:p>
        </p:txBody>
      </p:sp>
      <p:sp>
        <p:nvSpPr>
          <p:cNvPr id="28" name="Rounded Rectangle 27"/>
          <p:cNvSpPr/>
          <p:nvPr/>
        </p:nvSpPr>
        <p:spPr>
          <a:xfrm>
            <a:off x="640080" y="3099816"/>
            <a:ext cx="1207008" cy="246888"/>
          </a:xfrm>
          <a:prstGeom prst="roundRect">
            <a:avLst/>
          </a:prstGeom>
          <a:solidFill>
            <a:srgbClr val="F6F8FC"/>
          </a:solidFill>
          <a:ln w="10160">
            <a:solidFill>
              <a:srgbClr val="24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5800" y="3122676"/>
            <a:ext cx="1115568" cy="182880"/>
          </a:xfrm>
          <a:prstGeom prst="rect">
            <a:avLst/>
          </a:prstGeom>
          <a:noFill/>
        </p:spPr>
        <p:txBody>
          <a:bodyPr wrap="square" lIns="25400" tIns="12700" rIns="25400" bIns="12700">
            <a:spAutoFit/>
          </a:bodyPr>
          <a:lstStyle/>
          <a:p>
            <a:pPr algn="ctr">
              <a:defRPr sz="750" b="1">
                <a:solidFill>
                  <a:srgbClr val="24AABE"/>
                </a:solidFill>
                <a:latin typeface="Aptos"/>
              </a:defRPr>
            </a:pPr>
            <a:r>
              <a:t>DATA CONTRACT</a:t>
            </a:r>
          </a:p>
        </p:txBody>
      </p:sp>
      <p:sp>
        <p:nvSpPr>
          <p:cNvPr id="30" name="Rounded Rectangle 29"/>
          <p:cNvSpPr/>
          <p:nvPr/>
        </p:nvSpPr>
        <p:spPr>
          <a:xfrm>
            <a:off x="4270248" y="1938528"/>
            <a:ext cx="3493008" cy="1353312"/>
          </a:xfrm>
          <a:prstGeom prst="roundRect">
            <a:avLst/>
          </a:prstGeom>
          <a:solidFill>
            <a:srgbClr val="FFFFFF"/>
          </a:solidFill>
          <a:ln w="12700">
            <a:solidFill>
              <a:srgbClr val="DE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07408" y="2048256"/>
            <a:ext cx="320040" cy="274320"/>
          </a:xfrm>
          <a:prstGeom prst="rect">
            <a:avLst/>
          </a:prstGeom>
          <a:noFill/>
        </p:spPr>
        <p:txBody>
          <a:bodyPr wrap="square" lIns="25400" tIns="12700" rIns="25400" bIns="12700">
            <a:spAutoFit/>
          </a:bodyPr>
          <a:lstStyle/>
          <a:p>
            <a:pPr algn="l">
              <a:defRPr sz="1100" b="1">
                <a:solidFill>
                  <a:srgbClr val="845CCD"/>
                </a:solidFill>
                <a:latin typeface="Aptos"/>
              </a:defRPr>
            </a:pPr>
            <a:r>
              <a:t>02</a:t>
            </a:r>
          </a:p>
        </p:txBody>
      </p:sp>
      <p:sp>
        <p:nvSpPr>
          <p:cNvPr id="32" name="TextBox 31"/>
          <p:cNvSpPr txBox="1"/>
          <p:nvPr/>
        </p:nvSpPr>
        <p:spPr>
          <a:xfrm>
            <a:off x="4800600" y="2029968"/>
            <a:ext cx="2697480" cy="256032"/>
          </a:xfrm>
          <a:prstGeom prst="rect">
            <a:avLst/>
          </a:prstGeom>
          <a:noFill/>
        </p:spPr>
        <p:txBody>
          <a:bodyPr wrap="square" lIns="25400" tIns="12700" rIns="25400" bIns="12700">
            <a:spAutoFit/>
          </a:bodyPr>
          <a:lstStyle/>
          <a:p>
            <a:pPr algn="l">
              <a:defRPr sz="1200" b="1">
                <a:solidFill>
                  <a:srgbClr val="141F35"/>
                </a:solidFill>
                <a:latin typeface="Aptos"/>
              </a:defRPr>
            </a:pPr>
            <a:r>
              <a:t>Two-stage LLM pipeline</a:t>
            </a:r>
          </a:p>
        </p:txBody>
      </p:sp>
      <p:sp>
        <p:nvSpPr>
          <p:cNvPr id="33" name="TextBox 32"/>
          <p:cNvSpPr txBox="1"/>
          <p:nvPr/>
        </p:nvSpPr>
        <p:spPr>
          <a:xfrm>
            <a:off x="4800600" y="2331720"/>
            <a:ext cx="2743200" cy="228600"/>
          </a:xfrm>
          <a:prstGeom prst="rect">
            <a:avLst/>
          </a:prstGeom>
          <a:noFill/>
        </p:spPr>
        <p:txBody>
          <a:bodyPr wrap="square" lIns="25400" tIns="12700" rIns="25400" bIns="12700">
            <a:spAutoFit/>
          </a:bodyPr>
          <a:lstStyle/>
          <a:p>
            <a:pPr algn="l">
              <a:defRPr sz="980" b="1">
                <a:solidFill>
                  <a:srgbClr val="845CCD"/>
                </a:solidFill>
                <a:latin typeface="Aptos"/>
              </a:defRPr>
            </a:pPr>
            <a:r>
              <a:t>Normalize → structured response</a:t>
            </a:r>
          </a:p>
        </p:txBody>
      </p:sp>
      <p:sp>
        <p:nvSpPr>
          <p:cNvPr id="34" name="TextBox 33"/>
          <p:cNvSpPr txBox="1"/>
          <p:nvPr/>
        </p:nvSpPr>
        <p:spPr>
          <a:xfrm>
            <a:off x="4407408" y="2642616"/>
            <a:ext cx="3182112" cy="438912"/>
          </a:xfrm>
          <a:prstGeom prst="rect">
            <a:avLst/>
          </a:prstGeom>
          <a:noFill/>
        </p:spPr>
        <p:txBody>
          <a:bodyPr wrap="square" lIns="25400" tIns="12700" rIns="25400" bIns="12700">
            <a:spAutoFit/>
          </a:bodyPr>
          <a:lstStyle/>
          <a:p>
            <a:pPr algn="l">
              <a:defRPr sz="819" b="0">
                <a:solidFill>
                  <a:srgbClr val="5C697D"/>
                </a:solidFill>
                <a:latin typeface="Aptos"/>
              </a:defRPr>
            </a:pPr>
            <a:r>
              <a:t>Stage 1 converts colloquial text into a technical query. Stage 2 consumes retrieved evidence and emits a predictable troubleshooting schema.</a:t>
            </a:r>
          </a:p>
        </p:txBody>
      </p:sp>
      <p:sp>
        <p:nvSpPr>
          <p:cNvPr id="35" name="Rounded Rectangle 34"/>
          <p:cNvSpPr/>
          <p:nvPr/>
        </p:nvSpPr>
        <p:spPr>
          <a:xfrm>
            <a:off x="4407408" y="3099816"/>
            <a:ext cx="1207008" cy="246888"/>
          </a:xfrm>
          <a:prstGeom prst="roundRect">
            <a:avLst/>
          </a:prstGeom>
          <a:solidFill>
            <a:srgbClr val="F6F8FC"/>
          </a:solidFill>
          <a:ln w="10160">
            <a:solidFill>
              <a:srgbClr val="845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453128" y="3122676"/>
            <a:ext cx="1115568" cy="182880"/>
          </a:xfrm>
          <a:prstGeom prst="rect">
            <a:avLst/>
          </a:prstGeom>
          <a:noFill/>
        </p:spPr>
        <p:txBody>
          <a:bodyPr wrap="square" lIns="25400" tIns="12700" rIns="25400" bIns="12700">
            <a:spAutoFit/>
          </a:bodyPr>
          <a:lstStyle/>
          <a:p>
            <a:pPr algn="ctr">
              <a:defRPr sz="750" b="1">
                <a:solidFill>
                  <a:srgbClr val="845CCD"/>
                </a:solidFill>
                <a:latin typeface="Aptos"/>
              </a:defRPr>
            </a:pPr>
            <a:r>
              <a:t>MODEL CONTRACT</a:t>
            </a:r>
          </a:p>
        </p:txBody>
      </p:sp>
      <p:sp>
        <p:nvSpPr>
          <p:cNvPr id="37" name="Rounded Rectangle 36"/>
          <p:cNvSpPr/>
          <p:nvPr/>
        </p:nvSpPr>
        <p:spPr>
          <a:xfrm>
            <a:off x="8037576" y="1938528"/>
            <a:ext cx="3493008" cy="1353312"/>
          </a:xfrm>
          <a:prstGeom prst="roundRect">
            <a:avLst/>
          </a:prstGeom>
          <a:solidFill>
            <a:srgbClr val="FFFFFF"/>
          </a:solidFill>
          <a:ln w="12700">
            <a:solidFill>
              <a:srgbClr val="DE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74736" y="2048256"/>
            <a:ext cx="320040" cy="274320"/>
          </a:xfrm>
          <a:prstGeom prst="rect">
            <a:avLst/>
          </a:prstGeom>
          <a:noFill/>
        </p:spPr>
        <p:txBody>
          <a:bodyPr wrap="square" lIns="25400" tIns="12700" rIns="25400" bIns="12700">
            <a:spAutoFit/>
          </a:bodyPr>
          <a:lstStyle/>
          <a:p>
            <a:pPr algn="l">
              <a:defRPr sz="1100" b="1">
                <a:solidFill>
                  <a:srgbClr val="3E70D2"/>
                </a:solidFill>
                <a:latin typeface="Aptos"/>
              </a:defRPr>
            </a:pPr>
            <a:r>
              <a:t>03</a:t>
            </a:r>
          </a:p>
        </p:txBody>
      </p:sp>
      <p:sp>
        <p:nvSpPr>
          <p:cNvPr id="39" name="TextBox 38"/>
          <p:cNvSpPr txBox="1"/>
          <p:nvPr/>
        </p:nvSpPr>
        <p:spPr>
          <a:xfrm>
            <a:off x="8567928" y="2029968"/>
            <a:ext cx="2697480" cy="256032"/>
          </a:xfrm>
          <a:prstGeom prst="rect">
            <a:avLst/>
          </a:prstGeom>
          <a:noFill/>
        </p:spPr>
        <p:txBody>
          <a:bodyPr wrap="square" lIns="25400" tIns="12700" rIns="25400" bIns="12700">
            <a:spAutoFit/>
          </a:bodyPr>
          <a:lstStyle/>
          <a:p>
            <a:pPr algn="l">
              <a:defRPr sz="1200" b="1">
                <a:solidFill>
                  <a:srgbClr val="141F35"/>
                </a:solidFill>
                <a:latin typeface="Aptos"/>
              </a:defRPr>
            </a:pPr>
            <a:r>
              <a:t>Hybrid retrieval</a:t>
            </a:r>
          </a:p>
        </p:txBody>
      </p:sp>
      <p:sp>
        <p:nvSpPr>
          <p:cNvPr id="40" name="TextBox 39"/>
          <p:cNvSpPr txBox="1"/>
          <p:nvPr/>
        </p:nvSpPr>
        <p:spPr>
          <a:xfrm>
            <a:off x="8567928" y="2331720"/>
            <a:ext cx="2743200" cy="228600"/>
          </a:xfrm>
          <a:prstGeom prst="rect">
            <a:avLst/>
          </a:prstGeom>
          <a:noFill/>
        </p:spPr>
        <p:txBody>
          <a:bodyPr wrap="square" lIns="25400" tIns="12700" rIns="25400" bIns="12700">
            <a:spAutoFit/>
          </a:bodyPr>
          <a:lstStyle/>
          <a:p>
            <a:pPr algn="l">
              <a:defRPr sz="980" b="1">
                <a:solidFill>
                  <a:srgbClr val="3E70D2"/>
                </a:solidFill>
                <a:latin typeface="Aptos"/>
              </a:defRPr>
            </a:pPr>
            <a:r>
              <a:t>BM25 + semantic + RRF</a:t>
            </a:r>
          </a:p>
        </p:txBody>
      </p:sp>
      <p:sp>
        <p:nvSpPr>
          <p:cNvPr id="41" name="TextBox 40"/>
          <p:cNvSpPr txBox="1"/>
          <p:nvPr/>
        </p:nvSpPr>
        <p:spPr>
          <a:xfrm>
            <a:off x="8174736" y="2642616"/>
            <a:ext cx="3182112" cy="438912"/>
          </a:xfrm>
          <a:prstGeom prst="rect">
            <a:avLst/>
          </a:prstGeom>
          <a:noFill/>
        </p:spPr>
        <p:txBody>
          <a:bodyPr wrap="square" lIns="25400" tIns="12700" rIns="25400" bIns="12700">
            <a:spAutoFit/>
          </a:bodyPr>
          <a:lstStyle/>
          <a:p>
            <a:pPr algn="l">
              <a:defRPr sz="819" b="0">
                <a:solidFill>
                  <a:srgbClr val="5C697D"/>
                </a:solidFill>
                <a:latin typeface="Aptos"/>
              </a:defRPr>
            </a:pPr>
            <a:r>
              <a:t>Sparse retrieval protects exact Settings/device terminology; semantic retrieval handles paraphrases. Fuse ranked lists before generation.</a:t>
            </a:r>
          </a:p>
        </p:txBody>
      </p:sp>
      <p:sp>
        <p:nvSpPr>
          <p:cNvPr id="42" name="Rounded Rectangle 41"/>
          <p:cNvSpPr/>
          <p:nvPr/>
        </p:nvSpPr>
        <p:spPr>
          <a:xfrm>
            <a:off x="8174736" y="3099816"/>
            <a:ext cx="1207008" cy="246888"/>
          </a:xfrm>
          <a:prstGeom prst="roundRect">
            <a:avLst/>
          </a:prstGeom>
          <a:solidFill>
            <a:srgbClr val="F6F8FC"/>
          </a:solidFill>
          <a:ln w="10160">
            <a:solidFill>
              <a:srgbClr val="3E7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0456" y="3122676"/>
            <a:ext cx="1115568" cy="182880"/>
          </a:xfrm>
          <a:prstGeom prst="rect">
            <a:avLst/>
          </a:prstGeom>
          <a:noFill/>
        </p:spPr>
        <p:txBody>
          <a:bodyPr wrap="square" lIns="25400" tIns="12700" rIns="25400" bIns="12700">
            <a:spAutoFit/>
          </a:bodyPr>
          <a:lstStyle/>
          <a:p>
            <a:pPr algn="ctr">
              <a:defRPr sz="750" b="1">
                <a:solidFill>
                  <a:srgbClr val="3E70D2"/>
                </a:solidFill>
                <a:latin typeface="Aptos"/>
              </a:defRPr>
            </a:pPr>
            <a:r>
              <a:t>RETRIEVAL LAYER</a:t>
            </a:r>
          </a:p>
        </p:txBody>
      </p:sp>
      <p:sp>
        <p:nvSpPr>
          <p:cNvPr id="44" name="Rounded Rectangle 43"/>
          <p:cNvSpPr/>
          <p:nvPr/>
        </p:nvSpPr>
        <p:spPr>
          <a:xfrm>
            <a:off x="502920" y="3511296"/>
            <a:ext cx="3493008" cy="1353312"/>
          </a:xfrm>
          <a:prstGeom prst="roundRect">
            <a:avLst/>
          </a:prstGeom>
          <a:solidFill>
            <a:srgbClr val="FFFFFF"/>
          </a:solidFill>
          <a:ln w="12700">
            <a:solidFill>
              <a:srgbClr val="DE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0080" y="3621024"/>
            <a:ext cx="320040" cy="274320"/>
          </a:xfrm>
          <a:prstGeom prst="rect">
            <a:avLst/>
          </a:prstGeom>
          <a:noFill/>
        </p:spPr>
        <p:txBody>
          <a:bodyPr wrap="square" lIns="25400" tIns="12700" rIns="25400" bIns="12700">
            <a:spAutoFit/>
          </a:bodyPr>
          <a:lstStyle/>
          <a:p>
            <a:pPr algn="l">
              <a:defRPr sz="1100" b="1">
                <a:solidFill>
                  <a:srgbClr val="3CA070"/>
                </a:solidFill>
                <a:latin typeface="Aptos"/>
              </a:defRPr>
            </a:pPr>
            <a:r>
              <a:t>04</a:t>
            </a:r>
          </a:p>
        </p:txBody>
      </p:sp>
      <p:sp>
        <p:nvSpPr>
          <p:cNvPr id="46" name="TextBox 45"/>
          <p:cNvSpPr txBox="1"/>
          <p:nvPr/>
        </p:nvSpPr>
        <p:spPr>
          <a:xfrm>
            <a:off x="1033271" y="3602736"/>
            <a:ext cx="2697480" cy="256032"/>
          </a:xfrm>
          <a:prstGeom prst="rect">
            <a:avLst/>
          </a:prstGeom>
          <a:noFill/>
        </p:spPr>
        <p:txBody>
          <a:bodyPr wrap="square" lIns="25400" tIns="12700" rIns="25400" bIns="12700">
            <a:spAutoFit/>
          </a:bodyPr>
          <a:lstStyle/>
          <a:p>
            <a:pPr algn="l">
              <a:defRPr sz="1200" b="1">
                <a:solidFill>
                  <a:srgbClr val="141F35"/>
                </a:solidFill>
                <a:latin typeface="Aptos"/>
              </a:defRPr>
            </a:pPr>
            <a:r>
              <a:t>Fast-path serving</a:t>
            </a:r>
          </a:p>
        </p:txBody>
      </p:sp>
      <p:sp>
        <p:nvSpPr>
          <p:cNvPr id="47" name="TextBox 46"/>
          <p:cNvSpPr txBox="1"/>
          <p:nvPr/>
        </p:nvSpPr>
        <p:spPr>
          <a:xfrm>
            <a:off x="1033271" y="3904487"/>
            <a:ext cx="2743200" cy="228600"/>
          </a:xfrm>
          <a:prstGeom prst="rect">
            <a:avLst/>
          </a:prstGeom>
          <a:noFill/>
        </p:spPr>
        <p:txBody>
          <a:bodyPr wrap="square" lIns="25400" tIns="12700" rIns="25400" bIns="12700">
            <a:spAutoFit/>
          </a:bodyPr>
          <a:lstStyle/>
          <a:p>
            <a:pPr algn="l">
              <a:defRPr sz="980" b="1">
                <a:solidFill>
                  <a:srgbClr val="3CA070"/>
                </a:solidFill>
                <a:latin typeface="Aptos"/>
              </a:defRPr>
            </a:pPr>
            <a:r>
              <a:t>Cache validated answers</a:t>
            </a:r>
          </a:p>
        </p:txBody>
      </p:sp>
      <p:sp>
        <p:nvSpPr>
          <p:cNvPr id="48" name="TextBox 47"/>
          <p:cNvSpPr txBox="1"/>
          <p:nvPr/>
        </p:nvSpPr>
        <p:spPr>
          <a:xfrm>
            <a:off x="640080" y="4215383"/>
            <a:ext cx="3182112" cy="438912"/>
          </a:xfrm>
          <a:prstGeom prst="rect">
            <a:avLst/>
          </a:prstGeom>
          <a:noFill/>
        </p:spPr>
        <p:txBody>
          <a:bodyPr wrap="square" lIns="25400" tIns="12700" rIns="25400" bIns="12700">
            <a:spAutoFit/>
          </a:bodyPr>
          <a:lstStyle/>
          <a:p>
            <a:pPr algn="l">
              <a:defRPr sz="819" b="0">
                <a:solidFill>
                  <a:srgbClr val="5C697D"/>
                </a:solidFill>
                <a:latin typeface="Aptos"/>
              </a:defRPr>
            </a:pPr>
            <a:r>
              <a:t>Pre-validated scenarios can bypass the full generation path. Problem statement targets cached answers under 300 ms.</a:t>
            </a:r>
          </a:p>
        </p:txBody>
      </p:sp>
      <p:sp>
        <p:nvSpPr>
          <p:cNvPr id="49" name="Rounded Rectangle 48"/>
          <p:cNvSpPr/>
          <p:nvPr/>
        </p:nvSpPr>
        <p:spPr>
          <a:xfrm>
            <a:off x="640080" y="4672583"/>
            <a:ext cx="1207008" cy="246888"/>
          </a:xfrm>
          <a:prstGeom prst="roundRect">
            <a:avLst/>
          </a:prstGeom>
          <a:solidFill>
            <a:srgbClr val="F6F8FC"/>
          </a:solidFill>
          <a:ln w="10160">
            <a:solidFill>
              <a:srgbClr val="3CA0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85800" y="4695444"/>
            <a:ext cx="1115568" cy="182880"/>
          </a:xfrm>
          <a:prstGeom prst="rect">
            <a:avLst/>
          </a:prstGeom>
          <a:noFill/>
        </p:spPr>
        <p:txBody>
          <a:bodyPr wrap="square" lIns="25400" tIns="12700" rIns="25400" bIns="12700">
            <a:spAutoFit/>
          </a:bodyPr>
          <a:lstStyle/>
          <a:p>
            <a:pPr algn="ctr">
              <a:defRPr sz="750" b="1">
                <a:solidFill>
                  <a:srgbClr val="3CA070"/>
                </a:solidFill>
                <a:latin typeface="Aptos"/>
              </a:defRPr>
            </a:pPr>
            <a:r>
              <a:t>LATENCY PATH</a:t>
            </a:r>
          </a:p>
        </p:txBody>
      </p:sp>
      <p:sp>
        <p:nvSpPr>
          <p:cNvPr id="51" name="Rounded Rectangle 50"/>
          <p:cNvSpPr/>
          <p:nvPr/>
        </p:nvSpPr>
        <p:spPr>
          <a:xfrm>
            <a:off x="4270248" y="3511296"/>
            <a:ext cx="3493008" cy="1353312"/>
          </a:xfrm>
          <a:prstGeom prst="roundRect">
            <a:avLst/>
          </a:prstGeom>
          <a:solidFill>
            <a:srgbClr val="FFFFFF"/>
          </a:solidFill>
          <a:ln w="12700">
            <a:solidFill>
              <a:srgbClr val="DE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4407408" y="3621024"/>
            <a:ext cx="320040" cy="274320"/>
          </a:xfrm>
          <a:prstGeom prst="rect">
            <a:avLst/>
          </a:prstGeom>
          <a:noFill/>
        </p:spPr>
        <p:txBody>
          <a:bodyPr wrap="square" lIns="25400" tIns="12700" rIns="25400" bIns="12700">
            <a:spAutoFit/>
          </a:bodyPr>
          <a:lstStyle/>
          <a:p>
            <a:pPr algn="l">
              <a:defRPr sz="1100" b="1">
                <a:solidFill>
                  <a:srgbClr val="E08932"/>
                </a:solidFill>
                <a:latin typeface="Aptos"/>
              </a:defRPr>
            </a:pPr>
            <a:r>
              <a:t>05</a:t>
            </a:r>
          </a:p>
        </p:txBody>
      </p:sp>
      <p:sp>
        <p:nvSpPr>
          <p:cNvPr id="53" name="TextBox 52"/>
          <p:cNvSpPr txBox="1"/>
          <p:nvPr/>
        </p:nvSpPr>
        <p:spPr>
          <a:xfrm>
            <a:off x="4800600" y="3602736"/>
            <a:ext cx="2697480" cy="256032"/>
          </a:xfrm>
          <a:prstGeom prst="rect">
            <a:avLst/>
          </a:prstGeom>
          <a:noFill/>
        </p:spPr>
        <p:txBody>
          <a:bodyPr wrap="square" lIns="25400" tIns="12700" rIns="25400" bIns="12700">
            <a:spAutoFit/>
          </a:bodyPr>
          <a:lstStyle/>
          <a:p>
            <a:pPr algn="l">
              <a:defRPr sz="1200" b="1">
                <a:solidFill>
                  <a:srgbClr val="141F35"/>
                </a:solidFill>
                <a:latin typeface="Aptos"/>
              </a:defRPr>
            </a:pPr>
            <a:r>
              <a:t>Context &amp; disambiguation</a:t>
            </a:r>
          </a:p>
        </p:txBody>
      </p:sp>
      <p:sp>
        <p:nvSpPr>
          <p:cNvPr id="54" name="TextBox 53"/>
          <p:cNvSpPr txBox="1"/>
          <p:nvPr/>
        </p:nvSpPr>
        <p:spPr>
          <a:xfrm>
            <a:off x="4800600" y="3904487"/>
            <a:ext cx="2743200" cy="228600"/>
          </a:xfrm>
          <a:prstGeom prst="rect">
            <a:avLst/>
          </a:prstGeom>
          <a:noFill/>
        </p:spPr>
        <p:txBody>
          <a:bodyPr wrap="square" lIns="25400" tIns="12700" rIns="25400" bIns="12700">
            <a:spAutoFit/>
          </a:bodyPr>
          <a:lstStyle/>
          <a:p>
            <a:pPr algn="l">
              <a:defRPr sz="980" b="1">
                <a:solidFill>
                  <a:srgbClr val="E08932"/>
                </a:solidFill>
                <a:latin typeface="Aptos"/>
              </a:defRPr>
            </a:pPr>
            <a:r>
              <a:t>Model + One UI / OS</a:t>
            </a:r>
          </a:p>
        </p:txBody>
      </p:sp>
      <p:sp>
        <p:nvSpPr>
          <p:cNvPr id="55" name="TextBox 54"/>
          <p:cNvSpPr txBox="1"/>
          <p:nvPr/>
        </p:nvSpPr>
        <p:spPr>
          <a:xfrm>
            <a:off x="4407408" y="4215383"/>
            <a:ext cx="3182112" cy="438912"/>
          </a:xfrm>
          <a:prstGeom prst="rect">
            <a:avLst/>
          </a:prstGeom>
          <a:noFill/>
        </p:spPr>
        <p:txBody>
          <a:bodyPr wrap="square" lIns="25400" tIns="12700" rIns="25400" bIns="12700">
            <a:spAutoFit/>
          </a:bodyPr>
          <a:lstStyle/>
          <a:p>
            <a:pPr algn="l">
              <a:defRPr sz="819" b="0">
                <a:solidFill>
                  <a:srgbClr val="5C697D"/>
                </a:solidFill>
                <a:latin typeface="Aptos"/>
              </a:defRPr>
            </a:pPr>
            <a:r>
              <a:t>Use supported device/software metadata to avoid mapping the same symptom to an incompatible Settings destination.</a:t>
            </a:r>
          </a:p>
        </p:txBody>
      </p:sp>
      <p:sp>
        <p:nvSpPr>
          <p:cNvPr id="56" name="Rounded Rectangle 55"/>
          <p:cNvSpPr/>
          <p:nvPr/>
        </p:nvSpPr>
        <p:spPr>
          <a:xfrm>
            <a:off x="4407408" y="4672583"/>
            <a:ext cx="1207008" cy="246888"/>
          </a:xfrm>
          <a:prstGeom prst="roundRect">
            <a:avLst/>
          </a:prstGeom>
          <a:solidFill>
            <a:srgbClr val="F6F8FC"/>
          </a:solidFill>
          <a:ln w="10160">
            <a:solidFill>
              <a:srgbClr val="E089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453128" y="4695444"/>
            <a:ext cx="1115568" cy="182880"/>
          </a:xfrm>
          <a:prstGeom prst="rect">
            <a:avLst/>
          </a:prstGeom>
          <a:noFill/>
        </p:spPr>
        <p:txBody>
          <a:bodyPr wrap="square" lIns="25400" tIns="12700" rIns="25400" bIns="12700">
            <a:spAutoFit/>
          </a:bodyPr>
          <a:lstStyle/>
          <a:p>
            <a:pPr algn="ctr">
              <a:defRPr sz="750" b="1">
                <a:solidFill>
                  <a:srgbClr val="E08932"/>
                </a:solidFill>
                <a:latin typeface="Aptos"/>
              </a:defRPr>
            </a:pPr>
            <a:r>
              <a:t>CONTEXT LAYER</a:t>
            </a:r>
          </a:p>
        </p:txBody>
      </p:sp>
      <p:sp>
        <p:nvSpPr>
          <p:cNvPr id="58" name="Rounded Rectangle 57"/>
          <p:cNvSpPr/>
          <p:nvPr/>
        </p:nvSpPr>
        <p:spPr>
          <a:xfrm>
            <a:off x="8037576" y="3511296"/>
            <a:ext cx="3493008" cy="1353312"/>
          </a:xfrm>
          <a:prstGeom prst="roundRect">
            <a:avLst/>
          </a:prstGeom>
          <a:solidFill>
            <a:srgbClr val="FFFFFF"/>
          </a:solidFill>
          <a:ln w="12700">
            <a:solidFill>
              <a:srgbClr val="DE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174736" y="3621024"/>
            <a:ext cx="320040" cy="274320"/>
          </a:xfrm>
          <a:prstGeom prst="rect">
            <a:avLst/>
          </a:prstGeom>
          <a:noFill/>
        </p:spPr>
        <p:txBody>
          <a:bodyPr wrap="square" lIns="25400" tIns="12700" rIns="25400" bIns="12700">
            <a:spAutoFit/>
          </a:bodyPr>
          <a:lstStyle/>
          <a:p>
            <a:pPr algn="l">
              <a:defRPr sz="1100" b="1">
                <a:solidFill>
                  <a:srgbClr val="24AABE"/>
                </a:solidFill>
                <a:latin typeface="Aptos"/>
              </a:defRPr>
            </a:pPr>
            <a:r>
              <a:t>06</a:t>
            </a:r>
          </a:p>
        </p:txBody>
      </p:sp>
      <p:sp>
        <p:nvSpPr>
          <p:cNvPr id="60" name="TextBox 59"/>
          <p:cNvSpPr txBox="1"/>
          <p:nvPr/>
        </p:nvSpPr>
        <p:spPr>
          <a:xfrm>
            <a:off x="8567928" y="3602736"/>
            <a:ext cx="2697480" cy="256032"/>
          </a:xfrm>
          <a:prstGeom prst="rect">
            <a:avLst/>
          </a:prstGeom>
          <a:noFill/>
        </p:spPr>
        <p:txBody>
          <a:bodyPr wrap="square" lIns="25400" tIns="12700" rIns="25400" bIns="12700">
            <a:spAutoFit/>
          </a:bodyPr>
          <a:lstStyle/>
          <a:p>
            <a:pPr algn="l">
              <a:defRPr sz="1200" b="1">
                <a:solidFill>
                  <a:srgbClr val="141F35"/>
                </a:solidFill>
                <a:latin typeface="Aptos"/>
              </a:defRPr>
            </a:pPr>
            <a:r>
              <a:t>Evaluation loop</a:t>
            </a:r>
          </a:p>
        </p:txBody>
      </p:sp>
      <p:sp>
        <p:nvSpPr>
          <p:cNvPr id="61" name="TextBox 60"/>
          <p:cNvSpPr txBox="1"/>
          <p:nvPr/>
        </p:nvSpPr>
        <p:spPr>
          <a:xfrm>
            <a:off x="8567928" y="3904487"/>
            <a:ext cx="2743200" cy="228600"/>
          </a:xfrm>
          <a:prstGeom prst="rect">
            <a:avLst/>
          </a:prstGeom>
          <a:noFill/>
        </p:spPr>
        <p:txBody>
          <a:bodyPr wrap="square" lIns="25400" tIns="12700" rIns="25400" bIns="12700">
            <a:spAutoFit/>
          </a:bodyPr>
          <a:lstStyle/>
          <a:p>
            <a:pPr algn="l">
              <a:defRPr sz="980" b="1">
                <a:solidFill>
                  <a:srgbClr val="24AABE"/>
                </a:solidFill>
                <a:latin typeface="Aptos"/>
              </a:defRPr>
            </a:pPr>
            <a:r>
              <a:t>Accuracy / latency / cost</a:t>
            </a:r>
          </a:p>
        </p:txBody>
      </p:sp>
      <p:sp>
        <p:nvSpPr>
          <p:cNvPr id="62" name="TextBox 61"/>
          <p:cNvSpPr txBox="1"/>
          <p:nvPr/>
        </p:nvSpPr>
        <p:spPr>
          <a:xfrm>
            <a:off x="8174736" y="4215383"/>
            <a:ext cx="3182112" cy="438912"/>
          </a:xfrm>
          <a:prstGeom prst="rect">
            <a:avLst/>
          </a:prstGeom>
          <a:noFill/>
        </p:spPr>
        <p:txBody>
          <a:bodyPr wrap="square" lIns="25400" tIns="12700" rIns="25400" bIns="12700">
            <a:spAutoFit/>
          </a:bodyPr>
          <a:lstStyle/>
          <a:p>
            <a:pPr algn="l">
              <a:defRPr sz="819" b="0">
                <a:solidFill>
                  <a:srgbClr val="5C697D"/>
                </a:solidFill>
                <a:latin typeface="Aptos"/>
              </a:defRPr>
            </a:pPr>
            <a:r>
              <a:t>Measure step-level correctness, response latency and cost/query; feed failed cases back into scenario mappings and validation.</a:t>
            </a:r>
          </a:p>
        </p:txBody>
      </p:sp>
      <p:sp>
        <p:nvSpPr>
          <p:cNvPr id="63" name="Rounded Rectangle 62"/>
          <p:cNvSpPr/>
          <p:nvPr/>
        </p:nvSpPr>
        <p:spPr>
          <a:xfrm>
            <a:off x="8174736" y="4672583"/>
            <a:ext cx="1207008" cy="246888"/>
          </a:xfrm>
          <a:prstGeom prst="roundRect">
            <a:avLst/>
          </a:prstGeom>
          <a:solidFill>
            <a:srgbClr val="F6F8FC"/>
          </a:solidFill>
          <a:ln w="10160">
            <a:solidFill>
              <a:srgbClr val="24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220456" y="4695444"/>
            <a:ext cx="1115568" cy="182880"/>
          </a:xfrm>
          <a:prstGeom prst="rect">
            <a:avLst/>
          </a:prstGeom>
          <a:noFill/>
        </p:spPr>
        <p:txBody>
          <a:bodyPr wrap="square" lIns="25400" tIns="12700" rIns="25400" bIns="12700">
            <a:spAutoFit/>
          </a:bodyPr>
          <a:lstStyle/>
          <a:p>
            <a:pPr algn="ctr">
              <a:defRPr sz="750" b="1">
                <a:solidFill>
                  <a:srgbClr val="24AABE"/>
                </a:solidFill>
                <a:latin typeface="Aptos"/>
              </a:defRPr>
            </a:pPr>
            <a:r>
              <a:t>QUALITY LOOP</a:t>
            </a:r>
          </a:p>
        </p:txBody>
      </p:sp>
      <p:sp>
        <p:nvSpPr>
          <p:cNvPr id="65" name="Rounded Rectangle 64"/>
          <p:cNvSpPr/>
          <p:nvPr/>
        </p:nvSpPr>
        <p:spPr>
          <a:xfrm>
            <a:off x="502920" y="5230368"/>
            <a:ext cx="11228832" cy="676656"/>
          </a:xfrm>
          <a:prstGeom prst="roundRect">
            <a:avLst/>
          </a:prstGeom>
          <a:solidFill>
            <a:schemeClr val="tx1">
              <a:lumMod val="95000"/>
              <a:lumOff val="5000"/>
            </a:schemeClr>
          </a:solidFill>
          <a:ln w="12700">
            <a:solidFill>
              <a:srgbClr val="14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685800" y="5358384"/>
            <a:ext cx="1417320" cy="164592"/>
          </a:xfrm>
          <a:prstGeom prst="rect">
            <a:avLst/>
          </a:prstGeom>
          <a:noFill/>
        </p:spPr>
        <p:txBody>
          <a:bodyPr wrap="square" lIns="25400" tIns="12700" rIns="25400" bIns="12700">
            <a:spAutoFit/>
          </a:bodyPr>
          <a:lstStyle/>
          <a:p>
            <a:pPr algn="l">
              <a:defRPr sz="850" b="1">
                <a:solidFill>
                  <a:srgbClr val="AFC8FF"/>
                </a:solidFill>
                <a:latin typeface="Aptos"/>
              </a:defRPr>
            </a:pPr>
            <a:r>
              <a:t>PRODUCTION PATH</a:t>
            </a:r>
          </a:p>
        </p:txBody>
      </p:sp>
      <p:sp>
        <p:nvSpPr>
          <p:cNvPr id="67" name="TextBox 66"/>
          <p:cNvSpPr txBox="1"/>
          <p:nvPr/>
        </p:nvSpPr>
        <p:spPr>
          <a:xfrm>
            <a:off x="2084831" y="5321808"/>
            <a:ext cx="9372600" cy="237744"/>
          </a:xfrm>
          <a:prstGeom prst="rect">
            <a:avLst/>
          </a:prstGeom>
          <a:noFill/>
        </p:spPr>
        <p:txBody>
          <a:bodyPr wrap="square" lIns="25400" tIns="12700" rIns="25400" bIns="12700">
            <a:spAutoFit/>
          </a:bodyPr>
          <a:lstStyle/>
          <a:p>
            <a:pPr algn="l">
              <a:defRPr sz="1100" b="1">
                <a:solidFill>
                  <a:srgbClr val="FFFFFF"/>
                </a:solidFill>
                <a:latin typeface="Aptos"/>
              </a:defRPr>
            </a:pPr>
            <a:r>
              <a:t>REST/API → normalize → retrieve → structured JSON → deeplink → cache / verify → metrics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ounded Rectangle 41"/>
          <p:cNvSpPr/>
          <p:nvPr/>
        </p:nvSpPr>
        <p:spPr>
          <a:xfrm>
            <a:off x="4096512" y="3584448"/>
            <a:ext cx="2852928" cy="1207008"/>
          </a:xfrm>
          <a:prstGeom prst="roundRect">
            <a:avLst/>
          </a:prstGeom>
          <a:solidFill>
            <a:srgbClr val="F7F9FC"/>
          </a:solidFill>
          <a:ln w="12700">
            <a:solidFill>
              <a:srgbClr val="DE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75393"/>
            <a:ext cx="10607040" cy="438912"/>
          </a:xfrm>
          <a:prstGeom prst="rect">
            <a:avLst/>
          </a:prstGeom>
          <a:noFill/>
        </p:spPr>
        <p:txBody>
          <a:bodyPr wrap="square" lIns="25400" tIns="12700" rIns="25400" bIns="12700">
            <a:spAutoFit/>
          </a:bodyPr>
          <a:lstStyle/>
          <a:p>
            <a:pPr algn="l">
              <a:defRPr sz="2700" b="1">
                <a:solidFill>
                  <a:srgbClr val="141F35"/>
                </a:solidFill>
                <a:latin typeface="Aptos"/>
              </a:defRPr>
            </a:pPr>
            <a:r>
              <a:rPr dirty="0">
                <a:solidFill>
                  <a:srgbClr val="7030A0"/>
                </a:solidFill>
              </a:rPr>
              <a:t>Brownie points / technical depth</a:t>
            </a:r>
          </a:p>
        </p:txBody>
      </p:sp>
      <p:sp>
        <p:nvSpPr>
          <p:cNvPr id="5" name="Rounded Rectangle 4"/>
          <p:cNvSpPr/>
          <p:nvPr/>
        </p:nvSpPr>
        <p:spPr>
          <a:xfrm>
            <a:off x="454054" y="894025"/>
            <a:ext cx="6720840" cy="1856231"/>
          </a:xfrm>
          <a:prstGeom prst="roundRect">
            <a:avLst/>
          </a:prstGeom>
          <a:solidFill>
            <a:srgbClr val="FFFFFF"/>
          </a:solidFill>
          <a:ln w="12700">
            <a:solidFill>
              <a:srgbClr val="DE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234440"/>
            <a:ext cx="2011680" cy="228600"/>
          </a:xfrm>
          <a:prstGeom prst="rect">
            <a:avLst/>
          </a:prstGeom>
          <a:noFill/>
        </p:spPr>
        <p:txBody>
          <a:bodyPr wrap="square" lIns="25400" tIns="12700" rIns="25400" bIns="12700">
            <a:spAutoFit/>
          </a:bodyPr>
          <a:lstStyle/>
          <a:p>
            <a:pPr algn="l">
              <a:defRPr sz="1000" b="1">
                <a:solidFill>
                  <a:srgbClr val="3E70D2"/>
                </a:solidFill>
                <a:latin typeface="Aptos"/>
              </a:defRPr>
            </a:pPr>
            <a:r>
              <a:t>END-TO-END INFERENCE PATH</a:t>
            </a:r>
          </a:p>
        </p:txBody>
      </p:sp>
      <p:sp>
        <p:nvSpPr>
          <p:cNvPr id="7" name="Rounded Rectangle 6"/>
          <p:cNvSpPr/>
          <p:nvPr/>
        </p:nvSpPr>
        <p:spPr>
          <a:xfrm>
            <a:off x="713232" y="1627632"/>
            <a:ext cx="932688" cy="868680"/>
          </a:xfrm>
          <a:prstGeom prst="roundRect">
            <a:avLst/>
          </a:prstGeom>
          <a:solidFill>
            <a:srgbClr val="FAFBFD"/>
          </a:solidFill>
          <a:ln w="12700">
            <a:solidFill>
              <a:srgbClr val="3E7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 y="1691640"/>
            <a:ext cx="228600" cy="182880"/>
          </a:xfrm>
          <a:prstGeom prst="rect">
            <a:avLst/>
          </a:prstGeom>
          <a:noFill/>
        </p:spPr>
        <p:txBody>
          <a:bodyPr wrap="square" lIns="25400" tIns="12700" rIns="25400" bIns="12700">
            <a:spAutoFit/>
          </a:bodyPr>
          <a:lstStyle/>
          <a:p>
            <a:pPr algn="l">
              <a:defRPr sz="800" b="1">
                <a:solidFill>
                  <a:srgbClr val="3E70D2"/>
                </a:solidFill>
                <a:latin typeface="Aptos"/>
              </a:defRPr>
            </a:pPr>
            <a:r>
              <a:t>1</a:t>
            </a:r>
          </a:p>
        </p:txBody>
      </p:sp>
      <p:sp>
        <p:nvSpPr>
          <p:cNvPr id="9" name="TextBox 8"/>
          <p:cNvSpPr txBox="1"/>
          <p:nvPr/>
        </p:nvSpPr>
        <p:spPr>
          <a:xfrm>
            <a:off x="786384" y="1911095"/>
            <a:ext cx="786384" cy="164148"/>
          </a:xfrm>
          <a:prstGeom prst="rect">
            <a:avLst/>
          </a:prstGeom>
          <a:noFill/>
        </p:spPr>
        <p:txBody>
          <a:bodyPr wrap="square" lIns="25400" tIns="12700" rIns="25400" bIns="12700">
            <a:spAutoFit/>
          </a:bodyPr>
          <a:lstStyle/>
          <a:p>
            <a:pPr algn="l">
              <a:defRPr sz="720" b="1">
                <a:solidFill>
                  <a:srgbClr val="141F35"/>
                </a:solidFill>
                <a:latin typeface="Aptos"/>
              </a:defRPr>
            </a:pPr>
            <a:r>
              <a:rPr sz="900" dirty="0"/>
              <a:t>USER QUERY</a:t>
            </a:r>
          </a:p>
        </p:txBody>
      </p:sp>
      <p:sp>
        <p:nvSpPr>
          <p:cNvPr id="10" name="TextBox 9"/>
          <p:cNvSpPr txBox="1"/>
          <p:nvPr/>
        </p:nvSpPr>
        <p:spPr>
          <a:xfrm>
            <a:off x="786384" y="2130552"/>
            <a:ext cx="786384" cy="246888"/>
          </a:xfrm>
          <a:prstGeom prst="rect">
            <a:avLst/>
          </a:prstGeom>
          <a:noFill/>
        </p:spPr>
        <p:txBody>
          <a:bodyPr wrap="square" lIns="25400" tIns="12700" rIns="25400" bIns="12700">
            <a:spAutoFit/>
          </a:bodyPr>
          <a:lstStyle/>
          <a:p>
            <a:pPr algn="l">
              <a:defRPr sz="670" b="0">
                <a:solidFill>
                  <a:srgbClr val="5C697D"/>
                </a:solidFill>
                <a:latin typeface="Aptos"/>
              </a:defRPr>
            </a:pPr>
            <a:r>
              <a:t>“Wi‑Fi keeps dropping”</a:t>
            </a:r>
          </a:p>
        </p:txBody>
      </p:sp>
      <p:sp>
        <p:nvSpPr>
          <p:cNvPr id="11" name="Rounded Rectangle 10"/>
          <p:cNvSpPr/>
          <p:nvPr/>
        </p:nvSpPr>
        <p:spPr>
          <a:xfrm>
            <a:off x="1773936" y="1627632"/>
            <a:ext cx="932688" cy="868680"/>
          </a:xfrm>
          <a:prstGeom prst="roundRect">
            <a:avLst/>
          </a:prstGeom>
          <a:solidFill>
            <a:srgbClr val="FAFBFD"/>
          </a:solidFill>
          <a:ln w="12700">
            <a:solidFill>
              <a:srgbClr val="3E7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847088" y="1691640"/>
            <a:ext cx="228600" cy="182880"/>
          </a:xfrm>
          <a:prstGeom prst="rect">
            <a:avLst/>
          </a:prstGeom>
          <a:noFill/>
        </p:spPr>
        <p:txBody>
          <a:bodyPr wrap="square" lIns="25400" tIns="12700" rIns="25400" bIns="12700">
            <a:spAutoFit/>
          </a:bodyPr>
          <a:lstStyle/>
          <a:p>
            <a:pPr algn="l">
              <a:defRPr sz="800" b="1">
                <a:solidFill>
                  <a:srgbClr val="3E70D2"/>
                </a:solidFill>
                <a:latin typeface="Aptos"/>
              </a:defRPr>
            </a:pPr>
            <a:r>
              <a:t>2</a:t>
            </a:r>
          </a:p>
        </p:txBody>
      </p:sp>
      <p:sp>
        <p:nvSpPr>
          <p:cNvPr id="13" name="TextBox 12"/>
          <p:cNvSpPr txBox="1"/>
          <p:nvPr/>
        </p:nvSpPr>
        <p:spPr>
          <a:xfrm>
            <a:off x="1847088" y="1911095"/>
            <a:ext cx="786384" cy="164148"/>
          </a:xfrm>
          <a:prstGeom prst="rect">
            <a:avLst/>
          </a:prstGeom>
          <a:noFill/>
        </p:spPr>
        <p:txBody>
          <a:bodyPr wrap="square" lIns="25400" tIns="12700" rIns="25400" bIns="12700">
            <a:spAutoFit/>
          </a:bodyPr>
          <a:lstStyle/>
          <a:p>
            <a:pPr algn="l">
              <a:defRPr sz="720" b="1">
                <a:solidFill>
                  <a:srgbClr val="141F35"/>
                </a:solidFill>
                <a:latin typeface="Aptos"/>
              </a:defRPr>
            </a:pPr>
            <a:r>
              <a:rPr sz="900" dirty="0"/>
              <a:t>ENRICH</a:t>
            </a:r>
          </a:p>
        </p:txBody>
      </p:sp>
      <p:sp>
        <p:nvSpPr>
          <p:cNvPr id="14" name="TextBox 13"/>
          <p:cNvSpPr txBox="1"/>
          <p:nvPr/>
        </p:nvSpPr>
        <p:spPr>
          <a:xfrm>
            <a:off x="1847088" y="2130552"/>
            <a:ext cx="786384" cy="246888"/>
          </a:xfrm>
          <a:prstGeom prst="rect">
            <a:avLst/>
          </a:prstGeom>
          <a:noFill/>
        </p:spPr>
        <p:txBody>
          <a:bodyPr wrap="square" lIns="25400" tIns="12700" rIns="25400" bIns="12700">
            <a:spAutoFit/>
          </a:bodyPr>
          <a:lstStyle/>
          <a:p>
            <a:pPr algn="l">
              <a:defRPr sz="670" b="0">
                <a:solidFill>
                  <a:srgbClr val="5C697D"/>
                </a:solidFill>
                <a:latin typeface="Aptos"/>
              </a:defRPr>
            </a:pPr>
            <a:r>
              <a:t>technical query + context</a:t>
            </a:r>
          </a:p>
        </p:txBody>
      </p:sp>
      <p:sp>
        <p:nvSpPr>
          <p:cNvPr id="15" name="Rounded Rectangle 14"/>
          <p:cNvSpPr/>
          <p:nvPr/>
        </p:nvSpPr>
        <p:spPr>
          <a:xfrm>
            <a:off x="2834639" y="1627632"/>
            <a:ext cx="932688" cy="868680"/>
          </a:xfrm>
          <a:prstGeom prst="roundRect">
            <a:avLst/>
          </a:prstGeom>
          <a:solidFill>
            <a:srgbClr val="FAFBFD"/>
          </a:solidFill>
          <a:ln w="12700">
            <a:solidFill>
              <a:srgbClr val="3E7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907791" y="1691640"/>
            <a:ext cx="228600" cy="182880"/>
          </a:xfrm>
          <a:prstGeom prst="rect">
            <a:avLst/>
          </a:prstGeom>
          <a:noFill/>
        </p:spPr>
        <p:txBody>
          <a:bodyPr wrap="square" lIns="25400" tIns="12700" rIns="25400" bIns="12700">
            <a:spAutoFit/>
          </a:bodyPr>
          <a:lstStyle/>
          <a:p>
            <a:pPr algn="l">
              <a:defRPr sz="800" b="1">
                <a:solidFill>
                  <a:srgbClr val="3E70D2"/>
                </a:solidFill>
                <a:latin typeface="Aptos"/>
              </a:defRPr>
            </a:pPr>
            <a:r>
              <a:t>3</a:t>
            </a:r>
          </a:p>
        </p:txBody>
      </p:sp>
      <p:sp>
        <p:nvSpPr>
          <p:cNvPr id="17" name="TextBox 16"/>
          <p:cNvSpPr txBox="1"/>
          <p:nvPr/>
        </p:nvSpPr>
        <p:spPr>
          <a:xfrm>
            <a:off x="2907791" y="1911095"/>
            <a:ext cx="786384" cy="164148"/>
          </a:xfrm>
          <a:prstGeom prst="rect">
            <a:avLst/>
          </a:prstGeom>
          <a:noFill/>
        </p:spPr>
        <p:txBody>
          <a:bodyPr wrap="square" lIns="25400" tIns="12700" rIns="25400" bIns="12700">
            <a:spAutoFit/>
          </a:bodyPr>
          <a:lstStyle/>
          <a:p>
            <a:pPr algn="l">
              <a:defRPr sz="720" b="1">
                <a:solidFill>
                  <a:srgbClr val="141F35"/>
                </a:solidFill>
                <a:latin typeface="Aptos"/>
              </a:defRPr>
            </a:pPr>
            <a:r>
              <a:rPr sz="900" dirty="0"/>
              <a:t>RETRIEVE</a:t>
            </a:r>
          </a:p>
        </p:txBody>
      </p:sp>
      <p:sp>
        <p:nvSpPr>
          <p:cNvPr id="18" name="TextBox 17"/>
          <p:cNvSpPr txBox="1"/>
          <p:nvPr/>
        </p:nvSpPr>
        <p:spPr>
          <a:xfrm>
            <a:off x="2907791" y="2130552"/>
            <a:ext cx="786384" cy="246888"/>
          </a:xfrm>
          <a:prstGeom prst="rect">
            <a:avLst/>
          </a:prstGeom>
          <a:noFill/>
        </p:spPr>
        <p:txBody>
          <a:bodyPr wrap="square" lIns="25400" tIns="12700" rIns="25400" bIns="12700">
            <a:spAutoFit/>
          </a:bodyPr>
          <a:lstStyle/>
          <a:p>
            <a:pPr algn="l">
              <a:defRPr sz="670" b="0">
                <a:solidFill>
                  <a:srgbClr val="5C697D"/>
                </a:solidFill>
                <a:latin typeface="Aptos"/>
              </a:defRPr>
            </a:pPr>
            <a:r>
              <a:t>BM25 ∪ semantic → RRF</a:t>
            </a:r>
          </a:p>
        </p:txBody>
      </p:sp>
      <p:sp>
        <p:nvSpPr>
          <p:cNvPr id="19" name="Rounded Rectangle 18"/>
          <p:cNvSpPr/>
          <p:nvPr/>
        </p:nvSpPr>
        <p:spPr>
          <a:xfrm>
            <a:off x="3895344" y="1627632"/>
            <a:ext cx="932688" cy="868680"/>
          </a:xfrm>
          <a:prstGeom prst="roundRect">
            <a:avLst/>
          </a:prstGeom>
          <a:solidFill>
            <a:srgbClr val="FAFBFD"/>
          </a:solidFill>
          <a:ln w="12700">
            <a:solidFill>
              <a:srgbClr val="3E7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968496" y="1691640"/>
            <a:ext cx="228600" cy="182880"/>
          </a:xfrm>
          <a:prstGeom prst="rect">
            <a:avLst/>
          </a:prstGeom>
          <a:noFill/>
        </p:spPr>
        <p:txBody>
          <a:bodyPr wrap="square" lIns="25400" tIns="12700" rIns="25400" bIns="12700">
            <a:spAutoFit/>
          </a:bodyPr>
          <a:lstStyle/>
          <a:p>
            <a:pPr algn="l">
              <a:defRPr sz="800" b="1">
                <a:solidFill>
                  <a:srgbClr val="3E70D2"/>
                </a:solidFill>
                <a:latin typeface="Aptos"/>
              </a:defRPr>
            </a:pPr>
            <a:r>
              <a:t>4</a:t>
            </a:r>
          </a:p>
        </p:txBody>
      </p:sp>
      <p:sp>
        <p:nvSpPr>
          <p:cNvPr id="21" name="TextBox 20"/>
          <p:cNvSpPr txBox="1"/>
          <p:nvPr/>
        </p:nvSpPr>
        <p:spPr>
          <a:xfrm>
            <a:off x="3968496" y="1911095"/>
            <a:ext cx="786384" cy="164148"/>
          </a:xfrm>
          <a:prstGeom prst="rect">
            <a:avLst/>
          </a:prstGeom>
          <a:noFill/>
        </p:spPr>
        <p:txBody>
          <a:bodyPr wrap="square" lIns="25400" tIns="12700" rIns="25400" bIns="12700">
            <a:spAutoFit/>
          </a:bodyPr>
          <a:lstStyle/>
          <a:p>
            <a:pPr algn="l">
              <a:defRPr sz="720" b="1">
                <a:solidFill>
                  <a:srgbClr val="141F35"/>
                </a:solidFill>
                <a:latin typeface="Aptos"/>
              </a:defRPr>
            </a:pPr>
            <a:r>
              <a:rPr sz="900" dirty="0"/>
              <a:t>GENERATE</a:t>
            </a:r>
          </a:p>
        </p:txBody>
      </p:sp>
      <p:sp>
        <p:nvSpPr>
          <p:cNvPr id="22" name="TextBox 21"/>
          <p:cNvSpPr txBox="1"/>
          <p:nvPr/>
        </p:nvSpPr>
        <p:spPr>
          <a:xfrm>
            <a:off x="3968496" y="2130552"/>
            <a:ext cx="786384" cy="246888"/>
          </a:xfrm>
          <a:prstGeom prst="rect">
            <a:avLst/>
          </a:prstGeom>
          <a:noFill/>
        </p:spPr>
        <p:txBody>
          <a:bodyPr wrap="square" lIns="25400" tIns="12700" rIns="25400" bIns="12700">
            <a:spAutoFit/>
          </a:bodyPr>
          <a:lstStyle/>
          <a:p>
            <a:pPr algn="l">
              <a:defRPr sz="670" b="0">
                <a:solidFill>
                  <a:srgbClr val="5C697D"/>
                </a:solidFill>
                <a:latin typeface="Aptos"/>
              </a:defRPr>
            </a:pPr>
            <a:r>
              <a:t>ordered JSON actions</a:t>
            </a:r>
          </a:p>
        </p:txBody>
      </p:sp>
      <p:sp>
        <p:nvSpPr>
          <p:cNvPr id="23" name="Rounded Rectangle 22"/>
          <p:cNvSpPr/>
          <p:nvPr/>
        </p:nvSpPr>
        <p:spPr>
          <a:xfrm>
            <a:off x="4956048" y="1627632"/>
            <a:ext cx="932688" cy="868680"/>
          </a:xfrm>
          <a:prstGeom prst="roundRect">
            <a:avLst/>
          </a:prstGeom>
          <a:solidFill>
            <a:srgbClr val="FAFBFD"/>
          </a:solidFill>
          <a:ln w="12700">
            <a:solidFill>
              <a:srgbClr val="3E7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0" y="1691640"/>
            <a:ext cx="228600" cy="182880"/>
          </a:xfrm>
          <a:prstGeom prst="rect">
            <a:avLst/>
          </a:prstGeom>
          <a:noFill/>
        </p:spPr>
        <p:txBody>
          <a:bodyPr wrap="square" lIns="25400" tIns="12700" rIns="25400" bIns="12700">
            <a:spAutoFit/>
          </a:bodyPr>
          <a:lstStyle/>
          <a:p>
            <a:pPr algn="l">
              <a:defRPr sz="800" b="1">
                <a:solidFill>
                  <a:srgbClr val="3E70D2"/>
                </a:solidFill>
                <a:latin typeface="Aptos"/>
              </a:defRPr>
            </a:pPr>
            <a:r>
              <a:t>5</a:t>
            </a:r>
          </a:p>
        </p:txBody>
      </p:sp>
      <p:sp>
        <p:nvSpPr>
          <p:cNvPr id="25" name="TextBox 24"/>
          <p:cNvSpPr txBox="1"/>
          <p:nvPr/>
        </p:nvSpPr>
        <p:spPr>
          <a:xfrm>
            <a:off x="5029200" y="1911095"/>
            <a:ext cx="786384" cy="164148"/>
          </a:xfrm>
          <a:prstGeom prst="rect">
            <a:avLst/>
          </a:prstGeom>
          <a:noFill/>
        </p:spPr>
        <p:txBody>
          <a:bodyPr wrap="square" lIns="25400" tIns="12700" rIns="25400" bIns="12700">
            <a:spAutoFit/>
          </a:bodyPr>
          <a:lstStyle/>
          <a:p>
            <a:pPr algn="l">
              <a:defRPr sz="720" b="1">
                <a:solidFill>
                  <a:srgbClr val="141F35"/>
                </a:solidFill>
                <a:latin typeface="Aptos"/>
              </a:defRPr>
            </a:pPr>
            <a:r>
              <a:rPr sz="900" dirty="0"/>
              <a:t>MAP</a:t>
            </a:r>
          </a:p>
        </p:txBody>
      </p:sp>
      <p:sp>
        <p:nvSpPr>
          <p:cNvPr id="26" name="TextBox 25"/>
          <p:cNvSpPr txBox="1"/>
          <p:nvPr/>
        </p:nvSpPr>
        <p:spPr>
          <a:xfrm>
            <a:off x="5029200" y="2130552"/>
            <a:ext cx="786384" cy="246888"/>
          </a:xfrm>
          <a:prstGeom prst="rect">
            <a:avLst/>
          </a:prstGeom>
          <a:noFill/>
        </p:spPr>
        <p:txBody>
          <a:bodyPr wrap="square" lIns="25400" tIns="12700" rIns="25400" bIns="12700">
            <a:spAutoFit/>
          </a:bodyPr>
          <a:lstStyle/>
          <a:p>
            <a:pPr algn="l">
              <a:defRPr sz="670" b="0">
                <a:solidFill>
                  <a:srgbClr val="5C697D"/>
                </a:solidFill>
                <a:latin typeface="Aptos"/>
              </a:defRPr>
            </a:pPr>
            <a:r>
              <a:t>Settings deeplink</a:t>
            </a:r>
          </a:p>
        </p:txBody>
      </p:sp>
      <p:sp>
        <p:nvSpPr>
          <p:cNvPr id="27" name="Rounded Rectangle 26"/>
          <p:cNvSpPr/>
          <p:nvPr/>
        </p:nvSpPr>
        <p:spPr>
          <a:xfrm>
            <a:off x="6016752" y="1627632"/>
            <a:ext cx="932688" cy="868680"/>
          </a:xfrm>
          <a:prstGeom prst="roundRect">
            <a:avLst/>
          </a:prstGeom>
          <a:solidFill>
            <a:srgbClr val="FAFBFD"/>
          </a:solidFill>
          <a:ln w="12700">
            <a:solidFill>
              <a:srgbClr val="3E7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089904" y="1691640"/>
            <a:ext cx="228600" cy="182880"/>
          </a:xfrm>
          <a:prstGeom prst="rect">
            <a:avLst/>
          </a:prstGeom>
          <a:noFill/>
        </p:spPr>
        <p:txBody>
          <a:bodyPr wrap="square" lIns="25400" tIns="12700" rIns="25400" bIns="12700">
            <a:spAutoFit/>
          </a:bodyPr>
          <a:lstStyle/>
          <a:p>
            <a:pPr algn="l">
              <a:defRPr sz="800" b="1">
                <a:solidFill>
                  <a:srgbClr val="3E70D2"/>
                </a:solidFill>
                <a:latin typeface="Aptos"/>
              </a:defRPr>
            </a:pPr>
            <a:r>
              <a:t>6</a:t>
            </a:r>
          </a:p>
        </p:txBody>
      </p:sp>
      <p:sp>
        <p:nvSpPr>
          <p:cNvPr id="29" name="TextBox 28"/>
          <p:cNvSpPr txBox="1"/>
          <p:nvPr/>
        </p:nvSpPr>
        <p:spPr>
          <a:xfrm>
            <a:off x="6089904" y="1911095"/>
            <a:ext cx="786384" cy="164148"/>
          </a:xfrm>
          <a:prstGeom prst="rect">
            <a:avLst/>
          </a:prstGeom>
          <a:noFill/>
        </p:spPr>
        <p:txBody>
          <a:bodyPr wrap="square" lIns="25400" tIns="12700" rIns="25400" bIns="12700">
            <a:spAutoFit/>
          </a:bodyPr>
          <a:lstStyle/>
          <a:p>
            <a:pPr algn="l">
              <a:defRPr sz="720" b="1">
                <a:solidFill>
                  <a:srgbClr val="141F35"/>
                </a:solidFill>
                <a:latin typeface="Aptos"/>
              </a:defRPr>
            </a:pPr>
            <a:r>
              <a:rPr sz="900" dirty="0"/>
              <a:t>VERIFY</a:t>
            </a:r>
          </a:p>
        </p:txBody>
      </p:sp>
      <p:sp>
        <p:nvSpPr>
          <p:cNvPr id="30" name="TextBox 29"/>
          <p:cNvSpPr txBox="1"/>
          <p:nvPr/>
        </p:nvSpPr>
        <p:spPr>
          <a:xfrm>
            <a:off x="6089904" y="2130552"/>
            <a:ext cx="786384" cy="246888"/>
          </a:xfrm>
          <a:prstGeom prst="rect">
            <a:avLst/>
          </a:prstGeom>
          <a:noFill/>
        </p:spPr>
        <p:txBody>
          <a:bodyPr wrap="square" lIns="25400" tIns="12700" rIns="25400" bIns="12700">
            <a:spAutoFit/>
          </a:bodyPr>
          <a:lstStyle/>
          <a:p>
            <a:pPr algn="l">
              <a:defRPr sz="670" b="0">
                <a:solidFill>
                  <a:srgbClr val="5C697D"/>
                </a:solidFill>
                <a:latin typeface="Aptos"/>
              </a:defRPr>
            </a:pPr>
            <a:r>
              <a:t>resolved / retry</a:t>
            </a:r>
          </a:p>
        </p:txBody>
      </p:sp>
      <p:sp>
        <p:nvSpPr>
          <p:cNvPr id="31" name="Rounded Rectangle 30"/>
          <p:cNvSpPr/>
          <p:nvPr/>
        </p:nvSpPr>
        <p:spPr>
          <a:xfrm>
            <a:off x="502920" y="3090672"/>
            <a:ext cx="3246120" cy="1956816"/>
          </a:xfrm>
          <a:prstGeom prst="roundRect">
            <a:avLst/>
          </a:prstGeom>
          <a:solidFill>
            <a:srgbClr val="FFFFFF"/>
          </a:solidFill>
          <a:ln w="12700">
            <a:solidFill>
              <a:srgbClr val="DE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5800" y="3246120"/>
            <a:ext cx="2651760" cy="228600"/>
          </a:xfrm>
          <a:prstGeom prst="rect">
            <a:avLst/>
          </a:prstGeom>
          <a:noFill/>
        </p:spPr>
        <p:txBody>
          <a:bodyPr wrap="square" lIns="25400" tIns="12700" rIns="25400" bIns="12700">
            <a:spAutoFit/>
          </a:bodyPr>
          <a:lstStyle/>
          <a:p>
            <a:pPr algn="l">
              <a:defRPr sz="1100" b="1">
                <a:solidFill>
                  <a:srgbClr val="3E70D2"/>
                </a:solidFill>
                <a:latin typeface="Aptos"/>
              </a:defRPr>
            </a:pPr>
            <a:r>
              <a:t>RETRIEVAL FUSION</a:t>
            </a:r>
          </a:p>
        </p:txBody>
      </p:sp>
      <p:sp>
        <p:nvSpPr>
          <p:cNvPr id="33" name="TextBox 32"/>
          <p:cNvSpPr txBox="1"/>
          <p:nvPr/>
        </p:nvSpPr>
        <p:spPr>
          <a:xfrm>
            <a:off x="685800" y="3602736"/>
            <a:ext cx="2743200" cy="292608"/>
          </a:xfrm>
          <a:prstGeom prst="rect">
            <a:avLst/>
          </a:prstGeom>
          <a:noFill/>
        </p:spPr>
        <p:txBody>
          <a:bodyPr wrap="square" lIns="25400" tIns="12700" rIns="25400" bIns="12700">
            <a:spAutoFit/>
          </a:bodyPr>
          <a:lstStyle/>
          <a:p>
            <a:pPr algn="l">
              <a:defRPr sz="1400" b="1">
                <a:solidFill>
                  <a:srgbClr val="141F35"/>
                </a:solidFill>
                <a:latin typeface="Aptos"/>
              </a:defRPr>
            </a:pPr>
            <a:r>
              <a:t>RRF(d) = Σ 1 / (k + rank(d))</a:t>
            </a:r>
          </a:p>
        </p:txBody>
      </p:sp>
      <p:sp>
        <p:nvSpPr>
          <p:cNvPr id="34" name="TextBox 33"/>
          <p:cNvSpPr txBox="1"/>
          <p:nvPr/>
        </p:nvSpPr>
        <p:spPr>
          <a:xfrm>
            <a:off x="685800" y="3959352"/>
            <a:ext cx="2743200" cy="502920"/>
          </a:xfrm>
          <a:prstGeom prst="rect">
            <a:avLst/>
          </a:prstGeom>
          <a:noFill/>
        </p:spPr>
        <p:txBody>
          <a:bodyPr wrap="square" lIns="25400" tIns="12700" rIns="25400" bIns="12700">
            <a:spAutoFit/>
          </a:bodyPr>
          <a:lstStyle/>
          <a:p>
            <a:pPr algn="l">
              <a:defRPr sz="860" b="0">
                <a:solidFill>
                  <a:srgbClr val="5C697D"/>
                </a:solidFill>
                <a:latin typeface="Aptos"/>
              </a:defRPr>
            </a:pPr>
            <a:r>
              <a:t>Why RRF: BM25 and semantic scores are on different scales. Fusion by rank avoids raw-score calibration and rewards candidates that rank well across signals.</a:t>
            </a:r>
          </a:p>
        </p:txBody>
      </p:sp>
      <p:sp>
        <p:nvSpPr>
          <p:cNvPr id="35" name="Rounded Rectangle 34"/>
          <p:cNvSpPr/>
          <p:nvPr/>
        </p:nvSpPr>
        <p:spPr>
          <a:xfrm>
            <a:off x="685800" y="4617720"/>
            <a:ext cx="1051560" cy="246888"/>
          </a:xfrm>
          <a:prstGeom prst="roundRect">
            <a:avLst/>
          </a:prstGeom>
          <a:solidFill>
            <a:srgbClr val="F6F8FC"/>
          </a:solidFill>
          <a:ln w="10160">
            <a:solidFill>
              <a:srgbClr val="3E70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31520" y="4640580"/>
            <a:ext cx="960119" cy="182880"/>
          </a:xfrm>
          <a:prstGeom prst="rect">
            <a:avLst/>
          </a:prstGeom>
          <a:noFill/>
        </p:spPr>
        <p:txBody>
          <a:bodyPr wrap="square" lIns="25400" tIns="12700" rIns="25400" bIns="12700">
            <a:spAutoFit/>
          </a:bodyPr>
          <a:lstStyle/>
          <a:p>
            <a:pPr algn="ctr">
              <a:defRPr sz="750" b="1">
                <a:solidFill>
                  <a:srgbClr val="3E70D2"/>
                </a:solidFill>
                <a:latin typeface="Aptos"/>
              </a:defRPr>
            </a:pPr>
            <a:r>
              <a:t>RANK-LEVEL</a:t>
            </a:r>
          </a:p>
        </p:txBody>
      </p:sp>
      <p:sp>
        <p:nvSpPr>
          <p:cNvPr id="37" name="Rounded Rectangle 36"/>
          <p:cNvSpPr/>
          <p:nvPr/>
        </p:nvSpPr>
        <p:spPr>
          <a:xfrm>
            <a:off x="1828800" y="4617720"/>
            <a:ext cx="1078992" cy="246888"/>
          </a:xfrm>
          <a:prstGeom prst="roundRect">
            <a:avLst/>
          </a:prstGeom>
          <a:solidFill>
            <a:srgbClr val="F6F8FC"/>
          </a:solidFill>
          <a:ln w="10160">
            <a:solidFill>
              <a:srgbClr val="845C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874519" y="4640580"/>
            <a:ext cx="987551" cy="182880"/>
          </a:xfrm>
          <a:prstGeom prst="rect">
            <a:avLst/>
          </a:prstGeom>
          <a:noFill/>
        </p:spPr>
        <p:txBody>
          <a:bodyPr wrap="square" lIns="25400" tIns="12700" rIns="25400" bIns="12700">
            <a:spAutoFit/>
          </a:bodyPr>
          <a:lstStyle/>
          <a:p>
            <a:pPr algn="ctr">
              <a:defRPr sz="750" b="1">
                <a:solidFill>
                  <a:srgbClr val="845CCD"/>
                </a:solidFill>
                <a:latin typeface="Aptos"/>
              </a:defRPr>
            </a:pPr>
            <a:r>
              <a:t>HYBRID</a:t>
            </a:r>
          </a:p>
        </p:txBody>
      </p:sp>
      <p:sp>
        <p:nvSpPr>
          <p:cNvPr id="39" name="Rounded Rectangle 38"/>
          <p:cNvSpPr/>
          <p:nvPr/>
        </p:nvSpPr>
        <p:spPr>
          <a:xfrm>
            <a:off x="3913632" y="3090672"/>
            <a:ext cx="3310128" cy="1956816"/>
          </a:xfrm>
          <a:prstGeom prst="roundRect">
            <a:avLst/>
          </a:prstGeom>
          <a:solidFill>
            <a:srgbClr val="FFFFFF"/>
          </a:solidFill>
          <a:ln w="12700">
            <a:solidFill>
              <a:srgbClr val="DE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096512" y="3246120"/>
            <a:ext cx="2743200" cy="228600"/>
          </a:xfrm>
          <a:prstGeom prst="rect">
            <a:avLst/>
          </a:prstGeom>
          <a:noFill/>
        </p:spPr>
        <p:txBody>
          <a:bodyPr wrap="square" lIns="25400" tIns="12700" rIns="25400" bIns="12700">
            <a:spAutoFit/>
          </a:bodyPr>
          <a:lstStyle/>
          <a:p>
            <a:pPr algn="l">
              <a:defRPr sz="1100" b="1">
                <a:solidFill>
                  <a:srgbClr val="845CCD"/>
                </a:solidFill>
                <a:latin typeface="Aptos"/>
              </a:defRPr>
            </a:pPr>
            <a:r>
              <a:t>STRUCTURED OUTPUT CONTRACT</a:t>
            </a:r>
          </a:p>
        </p:txBody>
      </p:sp>
      <p:sp>
        <p:nvSpPr>
          <p:cNvPr id="41" name="TextBox 40"/>
          <p:cNvSpPr txBox="1"/>
          <p:nvPr/>
        </p:nvSpPr>
        <p:spPr>
          <a:xfrm>
            <a:off x="4059936" y="3506723"/>
            <a:ext cx="2852928" cy="1207008"/>
          </a:xfrm>
          <a:prstGeom prst="rect">
            <a:avLst/>
          </a:prstGeom>
          <a:noFill/>
        </p:spPr>
        <p:txBody>
          <a:bodyPr wrap="square" lIns="63500" tIns="63500" rIns="25400" bIns="12700">
            <a:spAutoFit/>
          </a:bodyPr>
          <a:lstStyle/>
          <a:p>
            <a:pPr algn="l">
              <a:defRPr sz="830" b="0">
                <a:solidFill>
                  <a:srgbClr val="141F35"/>
                </a:solidFill>
                <a:latin typeface="Aptos"/>
              </a:defRPr>
            </a:pPr>
            <a:r>
              <a:rPr dirty="0"/>
              <a:t>{</a:t>
            </a:r>
            <a:br>
              <a:rPr dirty="0"/>
            </a:br>
            <a:r>
              <a:rPr dirty="0"/>
              <a:t>  "diagnosis": "…",</a:t>
            </a:r>
            <a:br>
              <a:rPr dirty="0"/>
            </a:br>
            <a:r>
              <a:rPr dirty="0"/>
              <a:t>  "actions": [</a:t>
            </a:r>
            <a:br>
              <a:rPr dirty="0"/>
            </a:br>
            <a:r>
              <a:rPr dirty="0"/>
              <a:t>    {"step": 1, "text": "…",</a:t>
            </a:r>
            <a:br>
              <a:rPr dirty="0"/>
            </a:br>
            <a:r>
              <a:rPr dirty="0"/>
              <a:t>     "</a:t>
            </a:r>
            <a:r>
              <a:rPr dirty="0" err="1"/>
              <a:t>deeplink</a:t>
            </a:r>
            <a:r>
              <a:rPr dirty="0"/>
              <a:t>": "settings://…"}</a:t>
            </a:r>
            <a:br>
              <a:rPr dirty="0"/>
            </a:br>
            <a:r>
              <a:rPr dirty="0"/>
              <a:t>  ],</a:t>
            </a:r>
            <a:br>
              <a:rPr dirty="0"/>
            </a:br>
            <a:r>
              <a:rPr dirty="0"/>
              <a:t>  "confidence": "…"</a:t>
            </a:r>
            <a:br>
              <a:rPr dirty="0"/>
            </a:br>
            <a:r>
              <a:rPr dirty="0"/>
              <a:t>}</a:t>
            </a:r>
          </a:p>
        </p:txBody>
      </p:sp>
      <p:sp>
        <p:nvSpPr>
          <p:cNvPr id="43" name="TextBox 42"/>
          <p:cNvSpPr txBox="1"/>
          <p:nvPr/>
        </p:nvSpPr>
        <p:spPr>
          <a:xfrm>
            <a:off x="4096512" y="4608576"/>
            <a:ext cx="2834640" cy="256032"/>
          </a:xfrm>
          <a:prstGeom prst="rect">
            <a:avLst/>
          </a:prstGeom>
          <a:noFill/>
        </p:spPr>
        <p:txBody>
          <a:bodyPr wrap="square" lIns="25400" tIns="12700" rIns="25400" bIns="12700">
            <a:spAutoFit/>
          </a:bodyPr>
          <a:lstStyle/>
          <a:p>
            <a:pPr algn="l">
              <a:defRPr sz="840" b="1">
                <a:solidFill>
                  <a:srgbClr val="845CCD"/>
                </a:solidFill>
                <a:latin typeface="Aptos"/>
              </a:defRPr>
            </a:pPr>
            <a:r>
              <a:t>Executable data &gt; free-form answer</a:t>
            </a:r>
          </a:p>
        </p:txBody>
      </p:sp>
      <p:sp>
        <p:nvSpPr>
          <p:cNvPr id="44" name="Rounded Rectangle 43"/>
          <p:cNvSpPr/>
          <p:nvPr/>
        </p:nvSpPr>
        <p:spPr>
          <a:xfrm>
            <a:off x="502920" y="5285232"/>
            <a:ext cx="3493008" cy="822960"/>
          </a:xfrm>
          <a:prstGeom prst="roundRect">
            <a:avLst/>
          </a:prstGeom>
          <a:solidFill>
            <a:srgbClr val="FFFFFF"/>
          </a:solidFill>
          <a:ln w="12700">
            <a:solidFill>
              <a:srgbClr val="DE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30936" y="5394960"/>
            <a:ext cx="310896" cy="182880"/>
          </a:xfrm>
          <a:prstGeom prst="rect">
            <a:avLst/>
          </a:prstGeom>
          <a:noFill/>
        </p:spPr>
        <p:txBody>
          <a:bodyPr wrap="square" lIns="25400" tIns="12700" rIns="25400" bIns="12700">
            <a:spAutoFit/>
          </a:bodyPr>
          <a:lstStyle/>
          <a:p>
            <a:pPr algn="l">
              <a:defRPr sz="750" b="1">
                <a:solidFill>
                  <a:srgbClr val="3E70D2"/>
                </a:solidFill>
                <a:latin typeface="Aptos"/>
              </a:defRPr>
            </a:pPr>
            <a:r>
              <a:t>01</a:t>
            </a:r>
          </a:p>
        </p:txBody>
      </p:sp>
      <p:sp>
        <p:nvSpPr>
          <p:cNvPr id="46" name="TextBox 45"/>
          <p:cNvSpPr txBox="1"/>
          <p:nvPr/>
        </p:nvSpPr>
        <p:spPr>
          <a:xfrm>
            <a:off x="978408" y="5376672"/>
            <a:ext cx="2788920" cy="201168"/>
          </a:xfrm>
          <a:prstGeom prst="rect">
            <a:avLst/>
          </a:prstGeom>
          <a:noFill/>
        </p:spPr>
        <p:txBody>
          <a:bodyPr wrap="square" lIns="25400" tIns="12700" rIns="25400" bIns="12700">
            <a:spAutoFit/>
          </a:bodyPr>
          <a:lstStyle/>
          <a:p>
            <a:pPr algn="l">
              <a:defRPr sz="980" b="1">
                <a:solidFill>
                  <a:srgbClr val="141F35"/>
                </a:solidFill>
                <a:latin typeface="Aptos"/>
              </a:defRPr>
            </a:pPr>
            <a:r>
              <a:t>RETRIEVAL QUALITY</a:t>
            </a:r>
          </a:p>
        </p:txBody>
      </p:sp>
      <p:sp>
        <p:nvSpPr>
          <p:cNvPr id="47" name="TextBox 46"/>
          <p:cNvSpPr txBox="1"/>
          <p:nvPr/>
        </p:nvSpPr>
        <p:spPr>
          <a:xfrm>
            <a:off x="978408" y="5596128"/>
            <a:ext cx="2788920" cy="164592"/>
          </a:xfrm>
          <a:prstGeom prst="rect">
            <a:avLst/>
          </a:prstGeom>
          <a:noFill/>
        </p:spPr>
        <p:txBody>
          <a:bodyPr wrap="square" lIns="25400" tIns="12700" rIns="25400" bIns="12700">
            <a:spAutoFit/>
          </a:bodyPr>
          <a:lstStyle/>
          <a:p>
            <a:pPr algn="l">
              <a:defRPr sz="819" b="1">
                <a:solidFill>
                  <a:srgbClr val="3E70D2"/>
                </a:solidFill>
                <a:latin typeface="Aptos"/>
              </a:defRPr>
            </a:pPr>
            <a:r>
              <a:t>Sparse signal</a:t>
            </a:r>
          </a:p>
        </p:txBody>
      </p:sp>
      <p:sp>
        <p:nvSpPr>
          <p:cNvPr id="48" name="TextBox 47"/>
          <p:cNvSpPr txBox="1"/>
          <p:nvPr/>
        </p:nvSpPr>
        <p:spPr>
          <a:xfrm>
            <a:off x="641651" y="5728716"/>
            <a:ext cx="3182112" cy="228600"/>
          </a:xfrm>
          <a:prstGeom prst="rect">
            <a:avLst/>
          </a:prstGeom>
          <a:noFill/>
        </p:spPr>
        <p:txBody>
          <a:bodyPr wrap="square" lIns="25400" tIns="12700" rIns="25400" bIns="12700">
            <a:spAutoFit/>
          </a:bodyPr>
          <a:lstStyle/>
          <a:p>
            <a:pPr algn="l">
              <a:defRPr sz="720" b="0">
                <a:solidFill>
                  <a:srgbClr val="5C697D"/>
                </a:solidFill>
                <a:latin typeface="Aptos"/>
              </a:defRPr>
            </a:pPr>
            <a:r>
              <a:rPr dirty="0"/>
              <a:t>Exact tokens such as Settings labels, device terms and feature names remain searchable even when semantic similarity is weak. Semantic retrieval covers paraphrases and colloquial descriptions.</a:t>
            </a:r>
          </a:p>
        </p:txBody>
      </p:sp>
      <p:sp>
        <p:nvSpPr>
          <p:cNvPr id="49" name="Rounded Rectangle 48"/>
          <p:cNvSpPr/>
          <p:nvPr/>
        </p:nvSpPr>
        <p:spPr>
          <a:xfrm>
            <a:off x="4270248" y="5285232"/>
            <a:ext cx="3493008" cy="822960"/>
          </a:xfrm>
          <a:prstGeom prst="roundRect">
            <a:avLst/>
          </a:prstGeom>
          <a:solidFill>
            <a:srgbClr val="FFFFFF"/>
          </a:solidFill>
          <a:ln w="12700">
            <a:solidFill>
              <a:srgbClr val="DE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398264" y="5394960"/>
            <a:ext cx="310896" cy="182880"/>
          </a:xfrm>
          <a:prstGeom prst="rect">
            <a:avLst/>
          </a:prstGeom>
          <a:noFill/>
        </p:spPr>
        <p:txBody>
          <a:bodyPr wrap="square" lIns="25400" tIns="12700" rIns="25400" bIns="12700">
            <a:spAutoFit/>
          </a:bodyPr>
          <a:lstStyle/>
          <a:p>
            <a:pPr algn="l">
              <a:defRPr sz="750" b="1">
                <a:solidFill>
                  <a:srgbClr val="845CCD"/>
                </a:solidFill>
                <a:latin typeface="Aptos"/>
              </a:defRPr>
            </a:pPr>
            <a:r>
              <a:t>02</a:t>
            </a:r>
          </a:p>
        </p:txBody>
      </p:sp>
      <p:sp>
        <p:nvSpPr>
          <p:cNvPr id="51" name="TextBox 50"/>
          <p:cNvSpPr txBox="1"/>
          <p:nvPr/>
        </p:nvSpPr>
        <p:spPr>
          <a:xfrm>
            <a:off x="4745736" y="5376672"/>
            <a:ext cx="2788920" cy="201168"/>
          </a:xfrm>
          <a:prstGeom prst="rect">
            <a:avLst/>
          </a:prstGeom>
          <a:noFill/>
        </p:spPr>
        <p:txBody>
          <a:bodyPr wrap="square" lIns="25400" tIns="12700" rIns="25400" bIns="12700">
            <a:spAutoFit/>
          </a:bodyPr>
          <a:lstStyle/>
          <a:p>
            <a:pPr algn="l">
              <a:defRPr sz="980" b="1">
                <a:solidFill>
                  <a:srgbClr val="141F35"/>
                </a:solidFill>
                <a:latin typeface="Aptos"/>
              </a:defRPr>
            </a:pPr>
            <a:r>
              <a:t>GENERATION SAFETY</a:t>
            </a:r>
          </a:p>
        </p:txBody>
      </p:sp>
      <p:sp>
        <p:nvSpPr>
          <p:cNvPr id="52" name="TextBox 51"/>
          <p:cNvSpPr txBox="1"/>
          <p:nvPr/>
        </p:nvSpPr>
        <p:spPr>
          <a:xfrm>
            <a:off x="4745736" y="5596128"/>
            <a:ext cx="2788920" cy="164592"/>
          </a:xfrm>
          <a:prstGeom prst="rect">
            <a:avLst/>
          </a:prstGeom>
          <a:noFill/>
        </p:spPr>
        <p:txBody>
          <a:bodyPr wrap="square" lIns="25400" tIns="12700" rIns="25400" bIns="12700">
            <a:spAutoFit/>
          </a:bodyPr>
          <a:lstStyle/>
          <a:p>
            <a:pPr algn="l">
              <a:defRPr sz="819" b="1">
                <a:solidFill>
                  <a:srgbClr val="845CCD"/>
                </a:solidFill>
                <a:latin typeface="Aptos"/>
              </a:defRPr>
            </a:pPr>
            <a:r>
              <a:t>Evidence-grounded output</a:t>
            </a:r>
          </a:p>
        </p:txBody>
      </p:sp>
      <p:sp>
        <p:nvSpPr>
          <p:cNvPr id="53" name="TextBox 52"/>
          <p:cNvSpPr txBox="1"/>
          <p:nvPr/>
        </p:nvSpPr>
        <p:spPr>
          <a:xfrm>
            <a:off x="4398264" y="5806440"/>
            <a:ext cx="3182112" cy="228600"/>
          </a:xfrm>
          <a:prstGeom prst="rect">
            <a:avLst/>
          </a:prstGeom>
          <a:noFill/>
        </p:spPr>
        <p:txBody>
          <a:bodyPr wrap="square" lIns="25400" tIns="12700" rIns="25400" bIns="12700">
            <a:spAutoFit/>
          </a:bodyPr>
          <a:lstStyle/>
          <a:p>
            <a:pPr algn="l">
              <a:defRPr sz="720" b="0">
                <a:solidFill>
                  <a:srgbClr val="5C697D"/>
                </a:solidFill>
                <a:latin typeface="Aptos"/>
              </a:defRPr>
            </a:pPr>
            <a:r>
              <a:t>The generator should use retrieved scenario evidence, emit ordered steps, and attach the corresponding Settings destination instead of inventing a path.</a:t>
            </a:r>
          </a:p>
        </p:txBody>
      </p:sp>
      <p:sp>
        <p:nvSpPr>
          <p:cNvPr id="54" name="Rounded Rectangle 53"/>
          <p:cNvSpPr/>
          <p:nvPr/>
        </p:nvSpPr>
        <p:spPr>
          <a:xfrm>
            <a:off x="8037576" y="5285232"/>
            <a:ext cx="3493008" cy="822960"/>
          </a:xfrm>
          <a:prstGeom prst="roundRect">
            <a:avLst/>
          </a:prstGeom>
          <a:solidFill>
            <a:srgbClr val="FFFFFF"/>
          </a:solidFill>
          <a:ln w="12700">
            <a:solidFill>
              <a:srgbClr val="DE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8165592" y="5394960"/>
            <a:ext cx="310896" cy="182880"/>
          </a:xfrm>
          <a:prstGeom prst="rect">
            <a:avLst/>
          </a:prstGeom>
          <a:noFill/>
        </p:spPr>
        <p:txBody>
          <a:bodyPr wrap="square" lIns="25400" tIns="12700" rIns="25400" bIns="12700">
            <a:spAutoFit/>
          </a:bodyPr>
          <a:lstStyle/>
          <a:p>
            <a:pPr algn="l">
              <a:defRPr sz="750" b="1">
                <a:solidFill>
                  <a:srgbClr val="3CA070"/>
                </a:solidFill>
                <a:latin typeface="Aptos"/>
              </a:defRPr>
            </a:pPr>
            <a:r>
              <a:t>03</a:t>
            </a:r>
          </a:p>
        </p:txBody>
      </p:sp>
      <p:sp>
        <p:nvSpPr>
          <p:cNvPr id="56" name="TextBox 55"/>
          <p:cNvSpPr txBox="1"/>
          <p:nvPr/>
        </p:nvSpPr>
        <p:spPr>
          <a:xfrm>
            <a:off x="8513064" y="5376672"/>
            <a:ext cx="2788920" cy="201168"/>
          </a:xfrm>
          <a:prstGeom prst="rect">
            <a:avLst/>
          </a:prstGeom>
          <a:noFill/>
        </p:spPr>
        <p:txBody>
          <a:bodyPr wrap="square" lIns="25400" tIns="12700" rIns="25400" bIns="12700">
            <a:spAutoFit/>
          </a:bodyPr>
          <a:lstStyle/>
          <a:p>
            <a:pPr algn="l">
              <a:defRPr sz="980" b="1">
                <a:solidFill>
                  <a:srgbClr val="141F35"/>
                </a:solidFill>
                <a:latin typeface="Aptos"/>
              </a:defRPr>
            </a:pPr>
            <a:r>
              <a:t>SYSTEM FEEDBACK</a:t>
            </a:r>
          </a:p>
        </p:txBody>
      </p:sp>
      <p:sp>
        <p:nvSpPr>
          <p:cNvPr id="57" name="TextBox 56"/>
          <p:cNvSpPr txBox="1"/>
          <p:nvPr/>
        </p:nvSpPr>
        <p:spPr>
          <a:xfrm>
            <a:off x="8513064" y="5596128"/>
            <a:ext cx="2788920" cy="164592"/>
          </a:xfrm>
          <a:prstGeom prst="rect">
            <a:avLst/>
          </a:prstGeom>
          <a:noFill/>
        </p:spPr>
        <p:txBody>
          <a:bodyPr wrap="square" lIns="25400" tIns="12700" rIns="25400" bIns="12700">
            <a:spAutoFit/>
          </a:bodyPr>
          <a:lstStyle/>
          <a:p>
            <a:pPr algn="l">
              <a:defRPr sz="819" b="1">
                <a:solidFill>
                  <a:srgbClr val="3CA070"/>
                </a:solidFill>
                <a:latin typeface="Aptos"/>
              </a:defRPr>
            </a:pPr>
            <a:r>
              <a:t>Outcome-driven learning</a:t>
            </a:r>
          </a:p>
        </p:txBody>
      </p:sp>
      <p:sp>
        <p:nvSpPr>
          <p:cNvPr id="58" name="TextBox 57"/>
          <p:cNvSpPr txBox="1"/>
          <p:nvPr/>
        </p:nvSpPr>
        <p:spPr>
          <a:xfrm>
            <a:off x="8165592" y="5737951"/>
            <a:ext cx="3182112" cy="228600"/>
          </a:xfrm>
          <a:prstGeom prst="rect">
            <a:avLst/>
          </a:prstGeom>
          <a:noFill/>
        </p:spPr>
        <p:txBody>
          <a:bodyPr wrap="square" lIns="25400" tIns="12700" rIns="25400" bIns="12700">
            <a:spAutoFit/>
          </a:bodyPr>
          <a:lstStyle/>
          <a:p>
            <a:pPr algn="l">
              <a:defRPr sz="720" b="0">
                <a:solidFill>
                  <a:srgbClr val="5C697D"/>
                </a:solidFill>
                <a:latin typeface="Aptos"/>
              </a:defRPr>
            </a:pPr>
            <a:r>
              <a:rPr dirty="0"/>
              <a:t>Log query → retrieved scenario → generated steps → user outcome. Failed resolutions become candidates for new mappings, better ranking or cache invalidation.</a:t>
            </a:r>
          </a:p>
        </p:txBody>
      </p:sp>
      <p:sp>
        <p:nvSpPr>
          <p:cNvPr id="59" name="Rounded Rectangle 58"/>
          <p:cNvSpPr/>
          <p:nvPr/>
        </p:nvSpPr>
        <p:spPr>
          <a:xfrm>
            <a:off x="7406640" y="1078992"/>
            <a:ext cx="4325112" cy="3968496"/>
          </a:xfrm>
          <a:prstGeom prst="roundRect">
            <a:avLst/>
          </a:prstGeom>
          <a:solidFill>
            <a:srgbClr val="141F35"/>
          </a:solidFill>
          <a:ln w="12700">
            <a:solidFill>
              <a:srgbClr val="14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635240" y="1261872"/>
            <a:ext cx="3840480" cy="256032"/>
          </a:xfrm>
          <a:prstGeom prst="rect">
            <a:avLst/>
          </a:prstGeom>
          <a:noFill/>
        </p:spPr>
        <p:txBody>
          <a:bodyPr wrap="square" lIns="25400" tIns="12700" rIns="25400" bIns="12700">
            <a:spAutoFit/>
          </a:bodyPr>
          <a:lstStyle/>
          <a:p>
            <a:pPr algn="l">
              <a:defRPr sz="1100" b="1">
                <a:solidFill>
                  <a:srgbClr val="FFFFFF"/>
                </a:solidFill>
                <a:latin typeface="Aptos"/>
              </a:defRPr>
            </a:pPr>
            <a:r>
              <a:rPr dirty="0"/>
              <a:t>WHY THIS IS NOT A GENERIC FAQ</a:t>
            </a:r>
          </a:p>
        </p:txBody>
      </p:sp>
      <p:sp>
        <p:nvSpPr>
          <p:cNvPr id="61" name="TextBox 60"/>
          <p:cNvSpPr txBox="1"/>
          <p:nvPr/>
        </p:nvSpPr>
        <p:spPr>
          <a:xfrm>
            <a:off x="7635240" y="1691640"/>
            <a:ext cx="3749039" cy="2144177"/>
          </a:xfrm>
          <a:prstGeom prst="rect">
            <a:avLst/>
          </a:prstGeom>
          <a:noFill/>
        </p:spPr>
        <p:txBody>
          <a:bodyPr wrap="square">
            <a:spAutoFit/>
          </a:bodyPr>
          <a:lstStyle/>
          <a:p>
            <a:pPr>
              <a:spcAft>
                <a:spcPts val="400"/>
              </a:spcAft>
              <a:defRPr sz="910">
                <a:solidFill>
                  <a:srgbClr val="E4EBF6"/>
                </a:solidFill>
                <a:latin typeface="Aptos"/>
              </a:defRPr>
            </a:pPr>
            <a:r>
              <a:rPr sz="1200" dirty="0"/>
              <a:t>• Action-oriented: every answer ends in ordered troubleshooting steps.</a:t>
            </a:r>
          </a:p>
          <a:p>
            <a:pPr>
              <a:spcAft>
                <a:spcPts val="400"/>
              </a:spcAft>
              <a:defRPr sz="910">
                <a:solidFill>
                  <a:srgbClr val="E4EBF6"/>
                </a:solidFill>
                <a:latin typeface="Aptos"/>
              </a:defRPr>
            </a:pPr>
            <a:r>
              <a:rPr sz="1200" dirty="0"/>
              <a:t>• Destination-aware: steps are paired with Settings </a:t>
            </a:r>
            <a:r>
              <a:rPr sz="1200" dirty="0" err="1"/>
              <a:t>deeplinks</a:t>
            </a:r>
            <a:r>
              <a:rPr sz="1200" dirty="0"/>
              <a:t>.</a:t>
            </a:r>
          </a:p>
          <a:p>
            <a:pPr>
              <a:spcAft>
                <a:spcPts val="400"/>
              </a:spcAft>
              <a:defRPr sz="910">
                <a:solidFill>
                  <a:srgbClr val="E4EBF6"/>
                </a:solidFill>
                <a:latin typeface="Aptos"/>
              </a:defRPr>
            </a:pPr>
            <a:r>
              <a:rPr sz="1200" dirty="0"/>
              <a:t>• Hybrid retrieval: exact terminology + semantic paraphrase handling.</a:t>
            </a:r>
          </a:p>
          <a:p>
            <a:pPr>
              <a:spcAft>
                <a:spcPts val="400"/>
              </a:spcAft>
              <a:defRPr sz="910">
                <a:solidFill>
                  <a:srgbClr val="E4EBF6"/>
                </a:solidFill>
                <a:latin typeface="Aptos"/>
              </a:defRPr>
            </a:pPr>
            <a:r>
              <a:rPr sz="1200" dirty="0"/>
              <a:t>• Latency-aware: fast-path cache for validated scenarios.</a:t>
            </a:r>
          </a:p>
          <a:p>
            <a:pPr>
              <a:spcAft>
                <a:spcPts val="400"/>
              </a:spcAft>
              <a:defRPr sz="910">
                <a:solidFill>
                  <a:srgbClr val="E4EBF6"/>
                </a:solidFill>
                <a:latin typeface="Aptos"/>
              </a:defRPr>
            </a:pPr>
            <a:r>
              <a:rPr sz="1200" dirty="0"/>
              <a:t>• Measurable: step accuracy, latency and cost/query are explicit evaluation axes.</a:t>
            </a:r>
          </a:p>
        </p:txBody>
      </p:sp>
      <p:sp>
        <p:nvSpPr>
          <p:cNvPr id="62" name="Rounded Rectangle 61"/>
          <p:cNvSpPr/>
          <p:nvPr/>
        </p:nvSpPr>
        <p:spPr>
          <a:xfrm>
            <a:off x="7635240" y="4160520"/>
            <a:ext cx="1280160" cy="246888"/>
          </a:xfrm>
          <a:prstGeom prst="roundRect">
            <a:avLst/>
          </a:prstGeom>
          <a:solidFill>
            <a:srgbClr val="F6F8FC"/>
          </a:solidFill>
          <a:ln w="10160">
            <a:solidFill>
              <a:srgbClr val="24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680960" y="4183380"/>
            <a:ext cx="1188719" cy="182880"/>
          </a:xfrm>
          <a:prstGeom prst="rect">
            <a:avLst/>
          </a:prstGeom>
          <a:noFill/>
        </p:spPr>
        <p:txBody>
          <a:bodyPr wrap="square" lIns="25400" tIns="12700" rIns="25400" bIns="12700">
            <a:spAutoFit/>
          </a:bodyPr>
          <a:lstStyle/>
          <a:p>
            <a:pPr algn="ctr">
              <a:defRPr sz="750" b="1">
                <a:solidFill>
                  <a:srgbClr val="24AABE"/>
                </a:solidFill>
                <a:latin typeface="Aptos"/>
              </a:defRPr>
            </a:pPr>
            <a:r>
              <a:t>TECHNICAL VALUE</a:t>
            </a:r>
          </a:p>
        </p:txBody>
      </p:sp>
      <p:sp>
        <p:nvSpPr>
          <p:cNvPr id="64" name="TextBox 63"/>
          <p:cNvSpPr txBox="1"/>
          <p:nvPr/>
        </p:nvSpPr>
        <p:spPr>
          <a:xfrm>
            <a:off x="7635240" y="4526280"/>
            <a:ext cx="3657600" cy="329184"/>
          </a:xfrm>
          <a:prstGeom prst="rect">
            <a:avLst/>
          </a:prstGeom>
          <a:noFill/>
        </p:spPr>
        <p:txBody>
          <a:bodyPr wrap="square" lIns="25400" tIns="12700" rIns="25400" bIns="12700">
            <a:spAutoFit/>
          </a:bodyPr>
          <a:lstStyle/>
          <a:p>
            <a:pPr algn="l">
              <a:defRPr sz="1030" b="1">
                <a:solidFill>
                  <a:srgbClr val="FFFFFF"/>
                </a:solidFill>
                <a:latin typeface="Aptos"/>
              </a:defRPr>
            </a:pPr>
            <a:r>
              <a:t>NLP → retrieval → decision structure → action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a:xfrm>
            <a:off x="838200" y="1825625"/>
            <a:ext cx="10515600" cy="2530065"/>
          </a:xfrm>
        </p:spPr>
        <p:txBody>
          <a:bodyPr/>
          <a:lstStyle/>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Working prototype code — public or shared GitHub repo (Y</a:t>
            </a:r>
            <a:r>
              <a:rPr lang="en-US" dirty="0">
                <a:solidFill>
                  <a:srgbClr val="63637E"/>
                </a:solidFill>
                <a:latin typeface="Calibri" pitchFamily="34" charset="0"/>
                <a:ea typeface="Calibri" pitchFamily="34" charset="-122"/>
                <a:cs typeface="Calibri" pitchFamily="34" charset="-120"/>
              </a:rPr>
              <a:t>es</a:t>
            </a:r>
            <a:r>
              <a:rPr lang="en-US" sz="2800" dirty="0">
                <a:solidFill>
                  <a:srgbClr val="63637E"/>
                </a:solidFill>
                <a:latin typeface="Calibri" pitchFamily="34" charset="0"/>
                <a:ea typeface="Calibri" pitchFamily="34" charset="-122"/>
                <a:cs typeface="Calibri" pitchFamily="34" charset="-120"/>
              </a:rPr>
              <a:t>)</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README with reproducible setup instructions (Y</a:t>
            </a:r>
            <a:r>
              <a:rPr lang="en-US" dirty="0">
                <a:solidFill>
                  <a:srgbClr val="63637E"/>
                </a:solidFill>
                <a:latin typeface="Calibri" pitchFamily="34" charset="0"/>
                <a:ea typeface="Calibri" pitchFamily="34" charset="-122"/>
                <a:cs typeface="Calibri" pitchFamily="34" charset="-120"/>
              </a:rPr>
              <a:t>es</a:t>
            </a:r>
            <a:r>
              <a:rPr lang="en-US" sz="2800" dirty="0">
                <a:solidFill>
                  <a:srgbClr val="63637E"/>
                </a:solidFill>
                <a:latin typeface="Calibri" pitchFamily="34" charset="0"/>
                <a:ea typeface="Calibri" pitchFamily="34" charset="-122"/>
                <a:cs typeface="Calibri" pitchFamily="34" charset="-120"/>
              </a:rPr>
              <a:t>)</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Demo video, max 5 minutes (Drive link)</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Presentation file (PPT or PDF) (Yes)</a:t>
            </a:r>
            <a:endParaRPr lang="en-US" sz="2800" dirty="0"/>
          </a:p>
          <a:p>
            <a:pPr marL="0" indent="0">
              <a:buNone/>
            </a:pPr>
            <a:endParaRPr lang="en-IN" dirty="0"/>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2712720" y="2560320"/>
            <a:ext cx="6766560" cy="868680"/>
          </a:xfrm>
          <a:prstGeom prst="rect">
            <a:avLst/>
          </a:prstGeom>
          <a:noFill/>
          <a:ln/>
        </p:spPr>
        <p:txBody>
          <a:bodyPr wrap="square" lIns="0" tIns="0" rIns="0" bIns="0" rtlCol="0" anchor="ctr"/>
          <a:lstStyle/>
          <a:p>
            <a:pPr marL="0" indent="0" algn="ctr">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261</TotalTime>
  <Words>1436</Words>
  <Application>Microsoft Office PowerPoint</Application>
  <PresentationFormat>Widescreen</PresentationFormat>
  <Paragraphs>204</Paragraphs>
  <Slides>12</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Calibri Light</vt:lpstr>
      <vt:lpstr>Office Theme</vt:lpstr>
      <vt:lpstr>PowerPoint Presentation</vt:lpstr>
      <vt:lpstr>Theme 2: The Smart Guided Troubleshooting Engine</vt:lpstr>
      <vt:lpstr>Existing Solutions &amp; Gaps</vt:lpstr>
      <vt:lpstr>Our Solutions &amp; Architecture Diagram</vt:lpstr>
      <vt:lpstr>Demo &amp; Product Walkthrough</vt:lpstr>
      <vt:lpstr>Tools and tech stack used</vt:lpstr>
      <vt:lpstr>Impact &amp; Use case</vt:lpstr>
      <vt:lpstr>PowerPoint Presentation</vt:lpstr>
      <vt:lpstr>PowerPoint Presentation</vt:lpstr>
      <vt:lpstr>PowerPoint Presentation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Suthish</cp:lastModifiedBy>
  <cp:revision>12</cp:revision>
  <dcterms:created xsi:type="dcterms:W3CDTF">2026-09-07T12:01:01Z</dcterms:created>
  <dcterms:modified xsi:type="dcterms:W3CDTF">2026-09-29T18:47:05Z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